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75" r:id="rId25"/>
    <p:sldId id="274" r:id="rId24"/>
    <p:sldId id="273" r:id="rId23"/>
    <p:sldId id="272" r:id="rId22"/>
    <p:sldId id="271" r:id="rId21"/>
    <p:sldId id="270" r:id="rId20"/>
    <p:sldId id="269" r:id="rId19"/>
    <p:sldId id="268" r:id="rId18"/>
    <p:sldId id="267" r:id="rId17"/>
    <p:sldId id="266" r:id="rId16"/>
    <p:sldId id="265" r:id="rId15"/>
    <p:sldId id="264" r:id="rId14"/>
    <p:sldId id="263" r:id="rId13"/>
    <p:sldId id="262" r:id="rId12"/>
    <p:sldId id="261" r:id="rId11"/>
    <p:sldId id="260" r:id="rId10"/>
    <p:sldId id="259" r:id="rId9"/>
    <p:sldId id="258" r:id="rId8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6.xml"/><Relationship Id="rId13" Type="http://schemas.openxmlformats.org/officeDocument/2006/relationships/slide" Target="slides/slide15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10.xml"/><Relationship Id="rId19" Type="http://schemas.openxmlformats.org/officeDocument/2006/relationships/slide" Target="slides/slide9.xml"/><Relationship Id="rId20" Type="http://schemas.openxmlformats.org/officeDocument/2006/relationships/slide" Target="slides/slide8.xml"/><Relationship Id="rId21" Type="http://schemas.openxmlformats.org/officeDocument/2006/relationships/slide" Target="slides/slide7.xml"/><Relationship Id="rId22" Type="http://schemas.openxmlformats.org/officeDocument/2006/relationships/slide" Target="slides/slide6.xml"/><Relationship Id="rId23" Type="http://schemas.openxmlformats.org/officeDocument/2006/relationships/slide" Target="slides/slide5.xml"/><Relationship Id="rId24" Type="http://schemas.openxmlformats.org/officeDocument/2006/relationships/slide" Target="slides/slide4.xml"/><Relationship Id="rId25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Cover title"/>
          <p:cNvSpPr txBox="1"/>
          <p:nvPr/>
        </p:nvSpPr>
        <p:spPr>
          <a:xfrm>
            <a:off x="900000" y="1250000"/>
            <a:ext cx="112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F2F46"/>
                </a:solidFill>
                <a:latin typeface="Arial"/>
              </a:rPr>
              <a:t>Experiment Plan: Gamified Sightseeing in Asakusa</a:t>
            </a:r>
          </a:p>
        </p:txBody>
      </p:sp>
      <p:sp>
        <p:nvSpPr>
          <p:cNvPr id="48" name="Cover subtitle"/>
          <p:cNvSpPr txBox="1"/>
          <p:nvPr/>
        </p:nvSpPr>
        <p:spPr>
          <a:xfrm>
            <a:off x="900000" y="2900000"/>
            <a:ext cx="11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F2F46"/>
                </a:solidFill>
                <a:latin typeface="Arial"/>
              </a:rPr>
              <a:t>Checkpoints, points design, participant instructions, schedule and budget</a:t>
            </a:r>
          </a:p>
        </p:txBody>
      </p:sp>
      <p:sp>
        <p:nvSpPr>
          <p:cNvPr id="49" name="Cover byline"/>
          <p:cNvSpPr txBox="1"/>
          <p:nvPr/>
        </p:nvSpPr>
        <p:spPr>
          <a:xfrm>
            <a:off x="900000" y="4950000"/>
            <a:ext cx="11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HyoSeok (Jake) Choi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46E"/>
                </a:solidFill>
                <a:latin typeface="Arial"/>
              </a:rPr>
              <a:t>15 October 2026 ·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TOC number 1"/>
          <p:cNvSpPr/>
          <p:nvPr/>
        </p:nvSpPr>
        <p:spPr>
          <a:xfrm>
            <a:off x="900000" y="14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0000" y="14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50000" y="14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Experiment at a glance</a:t>
            </a:r>
          </a:p>
        </p:txBody>
      </p:sp>
      <p:sp>
        <p:nvSpPr>
          <p:cNvPr id="56" name="TOC number 2"/>
          <p:cNvSpPr/>
          <p:nvPr/>
        </p:nvSpPr>
        <p:spPr>
          <a:xfrm>
            <a:off x="900000" y="20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00000" y="20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0000" y="20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Checkpoint list (16 spots)</a:t>
            </a:r>
          </a:p>
        </p:txBody>
      </p:sp>
      <p:sp>
        <p:nvSpPr>
          <p:cNvPr id="59" name="TOC number 3"/>
          <p:cNvSpPr/>
          <p:nvPr/>
        </p:nvSpPr>
        <p:spPr>
          <a:xfrm>
            <a:off x="900000" y="26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0000" y="26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50000" y="26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Spot details</a:t>
            </a:r>
          </a:p>
        </p:txBody>
      </p:sp>
      <p:sp>
        <p:nvSpPr>
          <p:cNvPr id="62" name="TOC number 4"/>
          <p:cNvSpPr/>
          <p:nvPr/>
        </p:nvSpPr>
        <p:spPr>
          <a:xfrm>
            <a:off x="900000" y="32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0000" y="32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0000" y="32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Points and stamp rally</a:t>
            </a:r>
          </a:p>
        </p:txBody>
      </p:sp>
      <p:sp>
        <p:nvSpPr>
          <p:cNvPr id="65" name="TOC number 5"/>
          <p:cNvSpPr/>
          <p:nvPr/>
        </p:nvSpPr>
        <p:spPr>
          <a:xfrm>
            <a:off x="900000" y="38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0000" y="38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50000" y="38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Participant instructions</a:t>
            </a:r>
          </a:p>
        </p:txBody>
      </p:sp>
      <p:sp>
        <p:nvSpPr>
          <p:cNvPr id="68" name="TOC number 6"/>
          <p:cNvSpPr/>
          <p:nvPr/>
        </p:nvSpPr>
        <p:spPr>
          <a:xfrm>
            <a:off x="900000" y="44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0000" y="44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50000" y="44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Schedule</a:t>
            </a:r>
          </a:p>
        </p:txBody>
      </p:sp>
      <p:sp>
        <p:nvSpPr>
          <p:cNvPr id="71" name="TOC number 7"/>
          <p:cNvSpPr/>
          <p:nvPr/>
        </p:nvSpPr>
        <p:spPr>
          <a:xfrm>
            <a:off x="900000" y="50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00000" y="50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50000" y="50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Participants</a:t>
            </a:r>
          </a:p>
        </p:txBody>
      </p:sp>
      <p:sp>
        <p:nvSpPr>
          <p:cNvPr id="74" name="TOC number 8"/>
          <p:cNvSpPr/>
          <p:nvPr/>
        </p:nvSpPr>
        <p:spPr>
          <a:xfrm>
            <a:off x="900000" y="5640000"/>
            <a:ext cx="520000" cy="520000"/>
          </a:xfrm>
          <a:prstGeom prst="ellipse">
            <a:avLst/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00000" y="56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50000" y="56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Budget</a:t>
            </a:r>
          </a:p>
        </p:txBody>
      </p:sp>
      <p:sp>
        <p:nvSpPr>
          <p:cNvPr id="77" name="TOC number 9"/>
          <p:cNvSpPr/>
          <p:nvPr/>
        </p:nvSpPr>
        <p:spPr>
          <a:xfrm>
            <a:off x="900000" y="6240000"/>
            <a:ext cx="520000" cy="520000"/>
          </a:xfrm>
          <a:prstGeom prst="ellipse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0000" y="6240000"/>
            <a:ext cx="5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50000" y="6240000"/>
            <a:ext cx="9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62B30"/>
                </a:solidFill>
                <a:latin typeface="Arial"/>
              </a:rPr>
              <a:t>Items to confirm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at a glance</a:t>
            </a:r>
            <a:endParaRPr/>
          </a:p>
        </p:txBody>
      </p:sp>
      <p:sp>
        <p:nvSpPr>
          <p:cNvPr id="53" name="Stat groups"/>
          <p:cNvSpPr/>
          <p:nvPr/>
        </p:nvSpPr>
        <p:spPr>
          <a:xfrm>
            <a:off x="900000" y="1380000"/>
            <a:ext cx="2687500" cy="20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20000" y="1560000"/>
            <a:ext cx="22475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groups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With vs without gamification</a:t>
            </a:r>
          </a:p>
        </p:txBody>
      </p:sp>
      <p:sp>
        <p:nvSpPr>
          <p:cNvPr id="55" name="Stat checkpoints"/>
          <p:cNvSpPr/>
          <p:nvPr/>
        </p:nvSpPr>
        <p:spPr>
          <a:xfrm>
            <a:off x="3887500" y="1380000"/>
            <a:ext cx="2687500" cy="20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107500" y="1560000"/>
            <a:ext cx="22475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2F46"/>
                </a:solidFill>
                <a:latin typeface="Arial"/>
              </a:rPr>
              <a:t>16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checkpoints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3 popular, 13 less popular</a:t>
            </a:r>
          </a:p>
        </p:txBody>
      </p:sp>
      <p:sp>
        <p:nvSpPr>
          <p:cNvPr id="57" name="Stat participants"/>
          <p:cNvSpPr/>
          <p:nvPr/>
        </p:nvSpPr>
        <p:spPr>
          <a:xfrm>
            <a:off x="6875000" y="1380000"/>
            <a:ext cx="2687500" cy="20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95000" y="1560000"/>
            <a:ext cx="22475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2F46"/>
                </a:solidFill>
                <a:latin typeface="Arial"/>
              </a:rPr>
              <a:t>40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participants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20 per group, plus 4 in a pilot</a:t>
            </a:r>
          </a:p>
        </p:txBody>
      </p:sp>
      <p:sp>
        <p:nvSpPr>
          <p:cNvPr id="59" name="Stat free walk"/>
          <p:cNvSpPr/>
          <p:nvPr/>
        </p:nvSpPr>
        <p:spPr>
          <a:xfrm>
            <a:off x="9862500" y="1380000"/>
            <a:ext cx="2687500" cy="20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082500" y="1560000"/>
            <a:ext cx="22475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F2F46"/>
                </a:solidFill>
                <a:latin typeface="Arial"/>
              </a:rPr>
              <a:t>2.5 h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free walk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Alone, on foot, within 1.5 km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3730000"/>
            <a:ext cx="11650000" cy="3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Research question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62B30"/>
                </a:solidFill>
                <a:latin typeface="Arial"/>
              </a:rPr>
              <a:t>Do gamification features in a tourism app (Suisui Tabi) lead visitors from crowded famous spots to less popular spots nearby?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Design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62B30"/>
                </a:solidFill>
                <a:latin typeface="Arial"/>
              </a:rPr>
              <a:t>Control: </a:t>
            </a:r>
            <a:r>
              <a:rPr sz="1600" b="0">
                <a:solidFill>
                  <a:srgbClr val="262B30"/>
                </a:solidFill>
                <a:latin typeface="Arial"/>
              </a:rPr>
              <a:t>app map with all 16 checkpoints and spot information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62B30"/>
                </a:solidFill>
                <a:latin typeface="Arial"/>
              </a:rPr>
              <a:t>Gamification: </a:t>
            </a:r>
            <a:r>
              <a:rPr sz="1600" b="0">
                <a:solidFill>
                  <a:srgbClr val="262B30"/>
                </a:solidFill>
                <a:latin typeface="Arial"/>
              </a:rPr>
              <a:t>the same map, plus points, photo missions, a stamp rally, ranking and medals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62B30"/>
                </a:solidFill>
                <a:latin typeface="Arial"/>
              </a:rPr>
              <a:t>Same for both: </a:t>
            </a:r>
            <a:r>
              <a:rPr sz="1600" b="0">
                <a:solidFill>
                  <a:srgbClr val="262B30"/>
                </a:solidFill>
                <a:latin typeface="Arial"/>
              </a:rPr>
              <a:t>area, spots, days, time limit, payment; no extra reward for less popular spots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62B30"/>
                </a:solidFill>
                <a:latin typeface="Arial"/>
              </a:rPr>
              <a:t>Measured: </a:t>
            </a:r>
            <a:r>
              <a:rPr sz="1600" b="0">
                <a:solidFill>
                  <a:srgbClr val="262B30"/>
                </a:solidFill>
                <a:latin typeface="Arial"/>
              </a:rPr>
              <a:t>GPS tracks (visits, time in the crowded core) and separate pre / post questionnaires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 map</a:t>
            </a:r>
            <a:endParaRPr/>
          </a:p>
        </p:txBody>
      </p:sp>
      <p:pic>
        <p:nvPicPr>
          <p:cNvPr id="53" name="Picture 52" descr="asakusa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330000"/>
            <a:ext cx="5520000" cy="5520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70000" y="1380000"/>
            <a:ext cx="5780000" cy="5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Study area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1.5 km around Kaminarimon, west bank of the Sumida River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Start and finish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Asakusa Culture Tourist Information Center (opposite Kaminarimon) or a rented room nearby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Selection rules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Popularity from Google Maps review counts (Jenks natural breaks)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All checkpoints at least 300 m apart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Less popular spots 300–1,500 m from a popular spot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6E"/>
                </a:solidFill>
                <a:latin typeface="Arial"/>
              </a:rPr>
              <a:t>Red = popular, blue = less popular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 list (1–8 of 16)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11650000" cy="504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66000"/>
                <a:gridCol w="2563000"/>
                <a:gridCol w="1980500"/>
                <a:gridCol w="1514500"/>
                <a:gridCol w="1747500"/>
                <a:gridCol w="1165000"/>
                <a:gridCol w="932000"/>
                <a:gridCol w="128150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Spot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Japanese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Popularity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From start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25E12"/>
                          </a:solidFill>
                          <a:latin typeface="Arial"/>
                        </a:rPr>
                        <a:t>Sensō-ji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浅草寺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Temple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Popular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99,946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451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25E12"/>
                          </a:solidFill>
                          <a:latin typeface="Arial"/>
                        </a:rPr>
                        <a:t>Kaminarimon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雷門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Landmark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Popular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38,668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48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25E12"/>
                          </a:solidFill>
                          <a:latin typeface="Arial"/>
                        </a:rPr>
                        <a:t>Kappabashi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かっぱ橋道具街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Shopping street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Popular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13,091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775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Imado 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今戸神社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4,271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1,146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Ōtori 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鷲神社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3,252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1,378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Shitaya 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下谷神社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2,115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1,376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Torikoe 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鳥越神社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1,670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1,378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Kuramae 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蔵前神社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1,238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775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00000" y="6570000"/>
            <a:ext cx="116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Orange = popular. Reviews and ratings: Google Maps, 13 Oct 2026. "From start" = straight-line distance from the Asakusa Culture Tourist Information Center.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 list (9–16 of 16)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11650000" cy="504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66000"/>
                <a:gridCol w="2563000"/>
                <a:gridCol w="1980500"/>
                <a:gridCol w="1514500"/>
                <a:gridCol w="1747500"/>
                <a:gridCol w="1165000"/>
                <a:gridCol w="932000"/>
                <a:gridCol w="128150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Spot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Japanese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Popularity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From start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Iriya South 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入谷南公園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3.9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1,208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Yasaki Inari 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矢先稲荷神社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(medium)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869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Dairokuten Sakaki 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第六天榊神社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3.9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1,341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World Bags &amp; Luggage 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世界のカバン博物館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317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Edo Taitō Crafts Museum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江戸たいとう伝統工芸館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675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Asakusa Fuji Sengen 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浅草富士浅間神社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Shrine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972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Sumida River Ryokudō 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隅田川沿いの緑道公園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1,098 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Drum Museum (Taiko-kan)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太鼓館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Museum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Less pop. (low)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447 m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00000" y="6570000"/>
            <a:ext cx="116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Orange = popular. Reviews and ratings: Google Maps, 13 Oct 2026. "From start" = straight-line distance from the Asakusa Culture Tourist Information Center.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 details (1–4)</a:t>
            </a:r>
            <a:endParaRPr/>
          </a:p>
        </p:txBody>
      </p:sp>
      <p:sp>
        <p:nvSpPr>
          <p:cNvPr id="53" name="Spot card 1"/>
          <p:cNvSpPr/>
          <p:nvPr/>
        </p:nvSpPr>
        <p:spPr>
          <a:xfrm>
            <a:off x="900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40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1. Sensō-ji  </a:t>
            </a:r>
            <a:r>
              <a:rPr sz="1700" b="0">
                <a:solidFill>
                  <a:srgbClr val="0F2F46"/>
                </a:solidFill>
                <a:latin typeface="Arial"/>
              </a:rPr>
              <a:t>浅草寺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25E12"/>
                </a:solidFill>
                <a:latin typeface="Arial"/>
              </a:rPr>
              <a:t>Popular · Temple · 99,946 reviews (4.6) · 451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Tokyo's oldest temple (founded 628): main hall, five-storey pagoda, Hōzōmon gate.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 all day; main hall about 6:00–17:00.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35.71477, 139.79666</a:t>
            </a:r>
          </a:p>
        </p:txBody>
      </p:sp>
      <p:sp>
        <p:nvSpPr>
          <p:cNvPr id="55" name="Spot card 2"/>
          <p:cNvSpPr/>
          <p:nvPr/>
        </p:nvSpPr>
        <p:spPr>
          <a:xfrm>
            <a:off x="6875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15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2. Kaminarimon  </a:t>
            </a:r>
            <a:r>
              <a:rPr sz="1700" b="0">
                <a:solidFill>
                  <a:srgbClr val="0F2F46"/>
                </a:solidFill>
                <a:latin typeface="Arial"/>
              </a:rPr>
              <a:t>雷門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25E12"/>
                </a:solidFill>
                <a:latin typeface="Arial"/>
              </a:rPr>
              <a:t>Popular · Landmark · 38,668 reviews (4.5) · 48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The "Thunder Gate" with its giant red lantern; entrance to Sensō-ji and Nakamise street.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Open all day.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35.71112, 139.79637</a:t>
            </a:r>
          </a:p>
        </p:txBody>
      </p:sp>
      <p:sp>
        <p:nvSpPr>
          <p:cNvPr id="57" name="Spot card 3"/>
          <p:cNvSpPr/>
          <p:nvPr/>
        </p:nvSpPr>
        <p:spPr>
          <a:xfrm>
            <a:off x="900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40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3. Kappabashi  </a:t>
            </a:r>
            <a:r>
              <a:rPr sz="1700" b="0">
                <a:solidFill>
                  <a:srgbClr val="0F2F46"/>
                </a:solidFill>
                <a:latin typeface="Arial"/>
              </a:rPr>
              <a:t>かっぱ橋道具街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25E12"/>
                </a:solidFill>
                <a:latin typeface="Arial"/>
              </a:rPr>
              <a:t>Popular · Shopping street · 13,091 reviews (4.3) · 775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About 800 m of shops selling kitchenware, knives and plastic food samples.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 to walk. Many shops close on Sundays and holidays.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35.71058, 139.78796</a:t>
            </a:r>
          </a:p>
        </p:txBody>
      </p:sp>
      <p:sp>
        <p:nvSpPr>
          <p:cNvPr id="59" name="Spot card 4"/>
          <p:cNvSpPr/>
          <p:nvPr/>
        </p:nvSpPr>
        <p:spPr>
          <a:xfrm>
            <a:off x="6875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115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4. Imado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今戸神社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4,271 reviews (4.2) · 1,146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Said to be a birthplace of the maneki-neko (beckoning cat); known for matchmaking.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open; office hours limited.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35.71932, 139.80353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6570000"/>
            <a:ext cx="11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Descriptions, fees and hours are from general knowledge; confirm on official sites before the experiment.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 details (5–8)</a:t>
            </a:r>
            <a:endParaRPr/>
          </a:p>
        </p:txBody>
      </p:sp>
      <p:sp>
        <p:nvSpPr>
          <p:cNvPr id="53" name="Spot card 5"/>
          <p:cNvSpPr/>
          <p:nvPr/>
        </p:nvSpPr>
        <p:spPr>
          <a:xfrm>
            <a:off x="900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40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5. Ōtori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鷲神社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3,252 reviews (4.3) · 1,378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Famous for the Tori-no-ichi fair in November, with decorated kumade rakes.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Very crowded on fair days in November.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35.72252, 139.79195</a:t>
            </a:r>
          </a:p>
        </p:txBody>
      </p:sp>
      <p:sp>
        <p:nvSpPr>
          <p:cNvPr id="55" name="Spot card 6"/>
          <p:cNvSpPr/>
          <p:nvPr/>
        </p:nvSpPr>
        <p:spPr>
          <a:xfrm>
            <a:off x="6875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15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6. Shitaya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下谷神社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2,115 reviews (4.2) · 1,376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One of the oldest shrines in Taitō City; site of Edo's first yose (rakugo hall).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35.71081, 139.78131</a:t>
            </a:r>
          </a:p>
        </p:txBody>
      </p:sp>
      <p:sp>
        <p:nvSpPr>
          <p:cNvPr id="57" name="Spot card 7"/>
          <p:cNvSpPr/>
          <p:nvPr/>
        </p:nvSpPr>
        <p:spPr>
          <a:xfrm>
            <a:off x="900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40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7. Torikoe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鳥越神社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1,670 reviews (4.2) · 1,378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Old local shrine known for its heavy mikoshi festival in June.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35.70202, 139.78567</a:t>
            </a:r>
          </a:p>
        </p:txBody>
      </p:sp>
      <p:sp>
        <p:nvSpPr>
          <p:cNvPr id="59" name="Spot card 8"/>
          <p:cNvSpPr/>
          <p:nvPr/>
        </p:nvSpPr>
        <p:spPr>
          <a:xfrm>
            <a:off x="6875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115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8. Kuramae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蔵前神社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1,238 reviews (4.3) · 775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Hachiman shrine where kanjin sumo tournaments were held in the Edo period.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35.70485, 139.79191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6570000"/>
            <a:ext cx="11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Descriptions, fees and hours are from general knowledge; confirm on official sites before the experiment.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 details (9–12)</a:t>
            </a:r>
            <a:endParaRPr/>
          </a:p>
        </p:txBody>
      </p:sp>
      <p:sp>
        <p:nvSpPr>
          <p:cNvPr id="53" name="Spot card 9"/>
          <p:cNvSpPr/>
          <p:nvPr/>
        </p:nvSpPr>
        <p:spPr>
          <a:xfrm>
            <a:off x="900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40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9. Iriya South Park  </a:t>
            </a:r>
            <a:r>
              <a:rPr sz="1700" b="0">
                <a:solidFill>
                  <a:srgbClr val="0F2F46"/>
                </a:solidFill>
                <a:latin typeface="Arial"/>
              </a:rPr>
              <a:t>入谷南公園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Park · 647 reviews (3.9) · 1,208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Neighbourhood park in Iriya, between Kappabashi and Ueno.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Open all day.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35.71715, 139.78577</a:t>
            </a:r>
          </a:p>
        </p:txBody>
      </p:sp>
      <p:sp>
        <p:nvSpPr>
          <p:cNvPr id="55" name="Spot card 10"/>
          <p:cNvSpPr/>
          <p:nvPr/>
        </p:nvSpPr>
        <p:spPr>
          <a:xfrm>
            <a:off x="6875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15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10. Yasaki Inari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矢先稲荷神社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(medium) · Shrine · 597 reviews (4.2) · 869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Inari shrine on Kappabashi with a ceiling of paintings on the history of mounted archery.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35.71352, 139.78757</a:t>
            </a:r>
          </a:p>
        </p:txBody>
      </p:sp>
      <p:sp>
        <p:nvSpPr>
          <p:cNvPr id="57" name="Spot card 11"/>
          <p:cNvSpPr/>
          <p:nvPr/>
        </p:nvSpPr>
        <p:spPr>
          <a:xfrm>
            <a:off x="900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40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11. Dairokuten Sakaki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第六天榊神社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Shrine · 379 reviews (3.9) · 1,341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Old shrine in the Kuramae / Yanagibashi area.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35.70022, 139.78923</a:t>
            </a:r>
          </a:p>
        </p:txBody>
      </p:sp>
      <p:sp>
        <p:nvSpPr>
          <p:cNvPr id="59" name="Spot card 12"/>
          <p:cNvSpPr/>
          <p:nvPr/>
        </p:nvSpPr>
        <p:spPr>
          <a:xfrm>
            <a:off x="6875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115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12. World Bags &amp; Luggage Museum  </a:t>
            </a:r>
            <a:r>
              <a:rPr sz="1700" b="0">
                <a:solidFill>
                  <a:srgbClr val="0F2F46"/>
                </a:solidFill>
                <a:latin typeface="Arial"/>
              </a:rPr>
              <a:t>世界のカバン博物館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Museum · 371 reviews (4.3) · 317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Museum of bags and luggage from around the world, run by a luggage maker.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Check opening days and hours.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35.70805, 139.79529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6570000"/>
            <a:ext cx="11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Descriptions, fees and hours are from general knowledge; confirm on official sites before the experiment.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Spot details (13–16)</a:t>
            </a:r>
            <a:endParaRPr/>
          </a:p>
        </p:txBody>
      </p:sp>
      <p:sp>
        <p:nvSpPr>
          <p:cNvPr id="53" name="Spot card 13"/>
          <p:cNvSpPr/>
          <p:nvPr/>
        </p:nvSpPr>
        <p:spPr>
          <a:xfrm>
            <a:off x="900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40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13. Edo Taitō Crafts Museum  </a:t>
            </a:r>
            <a:r>
              <a:rPr sz="1700" b="0">
                <a:solidFill>
                  <a:srgbClr val="0F2F46"/>
                </a:solidFill>
                <a:latin typeface="Arial"/>
              </a:rPr>
              <a:t>江戸たいとう伝統工芸館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Museum · 333 reviews (4.0) · 675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Exhibits of traditional crafts made in Taitō City, with craft demonstrations.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Check opening days and hours.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35.71636, 139.79384</a:t>
            </a:r>
          </a:p>
        </p:txBody>
      </p:sp>
      <p:sp>
        <p:nvSpPr>
          <p:cNvPr id="55" name="Spot card 14"/>
          <p:cNvSpPr/>
          <p:nvPr/>
        </p:nvSpPr>
        <p:spPr>
          <a:xfrm>
            <a:off x="6875000" y="138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15000" y="155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14. Asakusa Fuji Sengen Shrine  </a:t>
            </a:r>
            <a:r>
              <a:rPr sz="1700" b="0">
                <a:solidFill>
                  <a:srgbClr val="0F2F46"/>
                </a:solidFill>
                <a:latin typeface="Arial"/>
              </a:rPr>
              <a:t>浅草富士浅間神社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Shrine · 322 reviews (4.0) · 972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Small shrine of Mt Fuji worship; hosts a plant fair (ueki-ichi) in early summer.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Grounds open.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35.71933, 139.79833</a:t>
            </a:r>
          </a:p>
        </p:txBody>
      </p:sp>
      <p:sp>
        <p:nvSpPr>
          <p:cNvPr id="57" name="Spot card 15"/>
          <p:cNvSpPr/>
          <p:nvPr/>
        </p:nvSpPr>
        <p:spPr>
          <a:xfrm>
            <a:off x="900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40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15. Sumida River Ryokudō Park  </a:t>
            </a:r>
            <a:r>
              <a:rPr sz="1700" b="0">
                <a:solidFill>
                  <a:srgbClr val="0F2F46"/>
                </a:solidFill>
                <a:latin typeface="Arial"/>
              </a:rPr>
              <a:t>隅田川沿いの緑道公園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Park · 206 reviews (4.2) · 1,098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Riverside green walkway along the Sumida River near Kuramae.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Free. Open all day.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35.70100, 139.79433</a:t>
            </a:r>
          </a:p>
        </p:txBody>
      </p:sp>
      <p:sp>
        <p:nvSpPr>
          <p:cNvPr id="59" name="Spot card 16"/>
          <p:cNvSpPr/>
          <p:nvPr/>
        </p:nvSpPr>
        <p:spPr>
          <a:xfrm>
            <a:off x="6875000" y="4030000"/>
            <a:ext cx="5675000" cy="242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115000" y="4200000"/>
            <a:ext cx="5195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2F46"/>
                </a:solidFill>
                <a:latin typeface="Arial"/>
              </a:rPr>
              <a:t>16. Drum Museum (Taiko-kan)  </a:t>
            </a:r>
            <a:r>
              <a:rPr sz="1700" b="0">
                <a:solidFill>
                  <a:srgbClr val="0F2F46"/>
                </a:solidFill>
                <a:latin typeface="Arial"/>
              </a:rPr>
              <a:t>太鼓館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Less popular (low) · Museum · 156 reviews (4.3) · 447 m from start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Hands-on museum of drums from around the world, above a drum maker's shop.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62B30"/>
                </a:solidFill>
                <a:latin typeface="Arial"/>
              </a:rPr>
              <a:t>Entry: </a:t>
            </a:r>
            <a:r>
              <a:rPr sz="1300" b="0">
                <a:solidFill>
                  <a:srgbClr val="262B30"/>
                </a:solidFill>
                <a:latin typeface="Arial"/>
              </a:rPr>
              <a:t>Paid (about ¥500; confirm). Check opening days.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Location: 35.71182, 139.79179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" y="6570000"/>
            <a:ext cx="116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Descriptions, fees and hours are from general knowledge; confirm on official sites before the experiment.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 design (gamification group only)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11650000" cy="36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12500"/>
                <a:gridCol w="1398000"/>
                <a:gridCol w="2563000"/>
                <a:gridCol w="4776500"/>
              </a:tblGrid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Check-in at a checkpoint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 16 checkpoints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Within 200 m; once per spot (app default)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Photo mission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 16 checkpoints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Photo of a set feature, e.g. the gate or main hall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Stamp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 stamp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 16 checkpoints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Given with each check-in; fills the rally card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Stamp rally bonus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30–150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Rally goals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See next slide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App sign-up bonus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Registration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Existing app feature; same for everyone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00000" y="5280000"/>
            <a:ext cx="1165000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Every checkpoint is worth the same.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Popular and less popular spots give identical points, so the test is of gamification itself, not of an extra incentive.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Maximum per spot: 30 points (check-in 10 + photo 20). Maximum overall: 480 + 330 rally bonus + 100 sign-up = 910.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Points do not change the payment. Participants are told this clearly.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Stamp rally and rewards</a:t>
            </a:r>
            <a:endParaRPr/>
          </a:p>
        </p:txBody>
      </p:sp>
      <p:sp>
        <p:nvSpPr>
          <p:cNvPr id="53" name="Goal 4"/>
          <p:cNvSpPr/>
          <p:nvPr/>
        </p:nvSpPr>
        <p:spPr>
          <a:xfrm>
            <a:off x="900000" y="1380000"/>
            <a:ext cx="2687500" cy="19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00000" y="1550000"/>
            <a:ext cx="22875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A646E"/>
                </a:solidFill>
                <a:latin typeface="Arial"/>
              </a:rPr>
              <a:t>4 stamps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0F2F46"/>
                </a:solidFill>
                <a:latin typeface="Arial"/>
              </a:rPr>
              <a:t>+30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F2F46"/>
                </a:solidFill>
                <a:latin typeface="Arial"/>
              </a:rPr>
              <a:t>bonus 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5" name="Right Arrow 54"/>
          <p:cNvSpPr/>
          <p:nvPr/>
        </p:nvSpPr>
        <p:spPr>
          <a:xfrm>
            <a:off x="3607500" y="2200000"/>
            <a:ext cx="260000" cy="30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oal 8"/>
          <p:cNvSpPr/>
          <p:nvPr/>
        </p:nvSpPr>
        <p:spPr>
          <a:xfrm>
            <a:off x="3887500" y="1380000"/>
            <a:ext cx="2687500" cy="19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087500" y="1550000"/>
            <a:ext cx="22875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A646E"/>
                </a:solidFill>
                <a:latin typeface="Arial"/>
              </a:rPr>
              <a:t>8 stamps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0F2F46"/>
                </a:solidFill>
                <a:latin typeface="Arial"/>
              </a:rPr>
              <a:t>+60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F2F46"/>
                </a:solidFill>
                <a:latin typeface="Arial"/>
              </a:rPr>
              <a:t>bonus 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8" name="Right Arrow 57"/>
          <p:cNvSpPr/>
          <p:nvPr/>
        </p:nvSpPr>
        <p:spPr>
          <a:xfrm>
            <a:off x="6595000" y="2200000"/>
            <a:ext cx="260000" cy="30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oal 12"/>
          <p:cNvSpPr/>
          <p:nvPr/>
        </p:nvSpPr>
        <p:spPr>
          <a:xfrm>
            <a:off x="6875000" y="1380000"/>
            <a:ext cx="2687500" cy="19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075000" y="1550000"/>
            <a:ext cx="22875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A646E"/>
                </a:solidFill>
                <a:latin typeface="Arial"/>
              </a:rPr>
              <a:t>12 stamps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0F2F46"/>
                </a:solidFill>
                <a:latin typeface="Arial"/>
              </a:rPr>
              <a:t>+90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F2F46"/>
                </a:solidFill>
                <a:latin typeface="Arial"/>
              </a:rPr>
              <a:t>bonus 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1" name="Right Arrow 60"/>
          <p:cNvSpPr/>
          <p:nvPr/>
        </p:nvSpPr>
        <p:spPr>
          <a:xfrm>
            <a:off x="9582500" y="2200000"/>
            <a:ext cx="260000" cy="300000"/>
          </a:xfrm>
          <a:prstGeom prst="rightArrow">
            <a:avLst/>
          </a:prstGeom>
          <a:solidFill>
            <a:srgbClr val="7BC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oal 16"/>
          <p:cNvSpPr/>
          <p:nvPr/>
        </p:nvSpPr>
        <p:spPr>
          <a:xfrm>
            <a:off x="9862500" y="1380000"/>
            <a:ext cx="2687500" cy="19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062500" y="1550000"/>
            <a:ext cx="22875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7BCFDF"/>
                </a:solidFill>
                <a:latin typeface="Arial"/>
              </a:rPr>
              <a:t>16 stamps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+150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bonus 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Asakusa Master badge</a:t>
            </a:r>
          </a:p>
        </p:txBody>
      </p:sp>
      <p:sp>
        <p:nvSpPr>
          <p:cNvPr id="64" name="Rewards card"/>
          <p:cNvSpPr/>
          <p:nvPr/>
        </p:nvSpPr>
        <p:spPr>
          <a:xfrm>
            <a:off x="900000" y="3630000"/>
            <a:ext cx="5650000" cy="32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160000" y="3810000"/>
            <a:ext cx="513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Rewards are in-app only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Bonus points, medals (Star at 500 points) and a completion badge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No money, gifts or prizes for points, stamps or ranking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Medal levels already exist in the app: Star 500, Professional 1,000</a:t>
            </a:r>
          </a:p>
        </p:txBody>
      </p:sp>
      <p:sp>
        <p:nvSpPr>
          <p:cNvPr id="66" name="Why card"/>
          <p:cNvSpPr/>
          <p:nvPr/>
        </p:nvSpPr>
        <p:spPr>
          <a:xfrm>
            <a:off x="6900000" y="3630000"/>
            <a:ext cx="5650000" cy="3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B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160000" y="3810000"/>
            <a:ext cx="513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Why no material prize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A prize would be a monetary incentive; the study tests gamification alone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The control group cannot earn it, so groups would differ in more than gamification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If a prize is wanted, give the same small gift to every participant in both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 procedure (both groups)</a:t>
            </a:r>
            <a:endParaRPr/>
          </a:p>
        </p:txBody>
      </p:sp>
      <p:sp>
        <p:nvSpPr>
          <p:cNvPr id="53" name="Procedure 1"/>
          <p:cNvSpPr/>
          <p:nvPr/>
        </p:nvSpPr>
        <p:spPr>
          <a:xfrm>
            <a:off x="900000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20000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F46"/>
                </a:solidFill>
                <a:latin typeface="Arial"/>
              </a:rPr>
              <a:t>Reception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B30"/>
                </a:solidFill>
                <a:latin typeface="Arial"/>
              </a:rPr>
              <a:t>Consent form, participant ID</a:t>
            </a:r>
          </a:p>
        </p:txBody>
      </p:sp>
      <p:sp>
        <p:nvSpPr>
          <p:cNvPr id="55" name="Procedure 2"/>
          <p:cNvSpPr/>
          <p:nvPr/>
        </p:nvSpPr>
        <p:spPr>
          <a:xfrm>
            <a:off x="2871666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991666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F46"/>
                </a:solidFill>
                <a:latin typeface="Arial"/>
              </a:rPr>
              <a:t>Pre-questionnaire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B30"/>
                </a:solidFill>
                <a:latin typeface="Arial"/>
              </a:rPr>
              <a:t>10 min, paper or online</a:t>
            </a:r>
          </a:p>
        </p:txBody>
      </p:sp>
      <p:sp>
        <p:nvSpPr>
          <p:cNvPr id="57" name="Procedure 3"/>
          <p:cNvSpPr/>
          <p:nvPr/>
        </p:nvSpPr>
        <p:spPr>
          <a:xfrm>
            <a:off x="4843332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963332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F46"/>
                </a:solidFill>
                <a:latin typeface="Arial"/>
              </a:rPr>
              <a:t>Briefing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B30"/>
                </a:solidFill>
                <a:latin typeface="Arial"/>
              </a:rPr>
              <a:t>10 min, groups briefed separately</a:t>
            </a:r>
          </a:p>
        </p:txBody>
      </p:sp>
      <p:sp>
        <p:nvSpPr>
          <p:cNvPr id="59" name="Procedure 4"/>
          <p:cNvSpPr/>
          <p:nvPr/>
        </p:nvSpPr>
        <p:spPr>
          <a:xfrm>
            <a:off x="6814998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934998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Free walk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2.5 h, alone, on foot</a:t>
            </a:r>
          </a:p>
        </p:txBody>
      </p:sp>
      <p:sp>
        <p:nvSpPr>
          <p:cNvPr id="61" name="Procedure 5"/>
          <p:cNvSpPr/>
          <p:nvPr/>
        </p:nvSpPr>
        <p:spPr>
          <a:xfrm>
            <a:off x="8786664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906664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F46"/>
                </a:solidFill>
                <a:latin typeface="Arial"/>
              </a:rPr>
              <a:t>Return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B30"/>
                </a:solidFill>
                <a:latin typeface="Arial"/>
              </a:rPr>
              <a:t>Back by the set time</a:t>
            </a:r>
          </a:p>
        </p:txBody>
      </p:sp>
      <p:sp>
        <p:nvSpPr>
          <p:cNvPr id="63" name="Procedure 6"/>
          <p:cNvSpPr/>
          <p:nvPr/>
        </p:nvSpPr>
        <p:spPr>
          <a:xfrm>
            <a:off x="10758330" y="1380000"/>
            <a:ext cx="1791666" cy="170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878330" y="1530000"/>
            <a:ext cx="1551666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BCFDF"/>
                </a:solidFill>
                <a:latin typeface="Arial"/>
              </a:rPr>
              <a:t>6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2F46"/>
                </a:solidFill>
                <a:latin typeface="Arial"/>
              </a:rPr>
              <a:t>Post-questionnaire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62B30"/>
                </a:solidFill>
                <a:latin typeface="Arial"/>
              </a:rPr>
              <a:t>10 min, then payment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000" y="3430000"/>
            <a:ext cx="11650000" cy="3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Rules for everyone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Walk alone and on foot. No trains, taxis, buses or bikes.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Keep the app running with location set to "Always". A mobile battery is provided.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Go anywhere you like, eat and shop as normal; stay inside the area shown on the map.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Return by the set time even if you have not finished.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Do not discuss the app with other participants until the study ends.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>
                <a:solidFill>
                  <a:srgbClr val="262B30"/>
                </a:solidFill>
                <a:latin typeface="Arial"/>
              </a:rPr>
              <a:t>Payment is the same for everyone and does not depend on what you do in the app.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Instructions: control group (no gamification)</a:t>
            </a:r>
            <a:endParaRPr/>
          </a:p>
        </p:txBody>
      </p:sp>
      <p:sp>
        <p:nvSpPr>
          <p:cNvPr id="53" name="Script card"/>
          <p:cNvSpPr/>
          <p:nvPr/>
        </p:nvSpPr>
        <p:spPr>
          <a:xfrm>
            <a:off x="900000" y="1380000"/>
            <a:ext cx="11650000" cy="5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B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250000" y="1640000"/>
            <a:ext cx="1095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A646E"/>
                </a:solidFill>
                <a:latin typeface="Arial"/>
              </a:rPr>
              <a:t>What staff read to participants</a:t>
            </a:r>
          </a:p>
          <a:p>
            <a:pPr algn="l">
              <a:spcAft>
                <a:spcPts val="1800"/>
              </a:spcAft>
            </a:pPr>
            <a:r>
              <a:rPr sz="2100" b="0">
                <a:solidFill>
                  <a:srgbClr val="0F2F46"/>
                </a:solidFill>
                <a:latin typeface="Arial"/>
              </a:rPr>
              <a:t>"Today you will sightsee freely in Asakusa for 2.5 hours using this app. We are testing a sightseeing app."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The map shows 16 places with information about each one. Visit any of them, or none; it is up to you.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You can also go to places that are not on the map, as long as you stay inside the area.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Keep the app open or running in the background so it can record your route.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Walk alone and on foot. Please be back here by [16:00].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If you have a problem, call [staff phone number].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Instructions: gamification group</a:t>
            </a:r>
            <a:endParaRPr/>
          </a:p>
        </p:txBody>
      </p:sp>
      <p:sp>
        <p:nvSpPr>
          <p:cNvPr id="53" name="Script card"/>
          <p:cNvSpPr/>
          <p:nvPr/>
        </p:nvSpPr>
        <p:spPr>
          <a:xfrm>
            <a:off x="900000" y="1380000"/>
            <a:ext cx="11650000" cy="5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250000" y="1640000"/>
            <a:ext cx="1095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A646E"/>
                </a:solidFill>
                <a:latin typeface="Arial"/>
              </a:rPr>
              <a:t>What staff read to participants</a:t>
            </a:r>
          </a:p>
          <a:p>
            <a:pPr algn="l">
              <a:spcAft>
                <a:spcPts val="1800"/>
              </a:spcAft>
            </a:pPr>
            <a:r>
              <a:rPr sz="2100" b="0">
                <a:solidFill>
                  <a:srgbClr val="0F2F46"/>
                </a:solidFill>
                <a:latin typeface="Arial"/>
              </a:rPr>
              <a:t>"Today you will sightsee freely in Asakusa for 2.5 hours using this app. We are testing a sightseeing app."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The map shows 16 places with information about each one. Visit any of them, or none; it is up to you.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When you are near a place, press "Check in" to earn 10 points and a stamp. Each place also has a photo mission worth 20 points.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Collect stamps for bonus points: 4, 8, 12 and all 16 stamps. Check your points, medals and ranking in the app.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Points are just for fun: they do not change your payment.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900" b="0">
                <a:solidFill>
                  <a:srgbClr val="262B30"/>
                </a:solidFill>
                <a:latin typeface="Arial"/>
              </a:rPr>
              <a:t>Keep the app running, walk alone and on foot, and be back here by [16:00]. Problems: call [staff phone number].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on an experiment day (example)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8200000" cy="504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66000"/>
                <a:gridCol w="5494000"/>
                <a:gridCol w="1640000"/>
              </a:tblGrid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12:30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Staff set up; charge batteries; check the app server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Staff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12:45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Reception: consent form, participant ID, group assignment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13:00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Pre-questionnaire (10 min)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Briefing in two separate spots, one per group; app check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Each group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13:30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Start walking, one person every 1–2 minutes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16:00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Return deadline; check app data uploaded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16:05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Post-questionnaire (10 min); payment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16:30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End; ask participants not to share details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B3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450000" y="1380000"/>
            <a:ext cx="3100000" cy="5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Per session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10 participants: 5 control, 5 gamification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2 staff: one briefs each group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Why Saturday afternoons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Crowding at Sensō-ji is clearest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Many Kappabashi shops close on Sundays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Back before dark (sunset about 16:30 in December)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schedule (proposal)</a:t>
            </a:r>
            <a:endParaRPr/>
          </a:p>
        </p:txBody>
      </p:sp>
      <p:sp>
        <p:nvSpPr>
          <p:cNvPr id="53" name="Phase 1"/>
          <p:cNvSpPr/>
          <p:nvPr/>
        </p:nvSpPr>
        <p:spPr>
          <a:xfrm>
            <a:off x="900000" y="13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80000" y="13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Oct 19 – Nov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0000" y="13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Approval and setup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Professor approval; ethics application; request app changes; register 16 spots, missions and rally</a:t>
            </a:r>
          </a:p>
        </p:txBody>
      </p:sp>
      <p:sp>
        <p:nvSpPr>
          <p:cNvPr id="56" name="Phase 2"/>
          <p:cNvSpPr/>
          <p:nvPr/>
        </p:nvSpPr>
        <p:spPr>
          <a:xfrm>
            <a:off x="900000" y="22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80000" y="22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Nov 9 – Nov 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50000" y="22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Preparation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Recruit participants; build pre / post questionnaires (Japanese and English); buy batteries and gift cards</a:t>
            </a:r>
          </a:p>
        </p:txBody>
      </p:sp>
      <p:sp>
        <p:nvSpPr>
          <p:cNvPr id="59" name="Phase 3"/>
          <p:cNvSpPr/>
          <p:nvPr/>
        </p:nvSpPr>
        <p:spPr>
          <a:xfrm>
            <a:off x="900000" y="31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80000" y="31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Sat Nov 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50000" y="31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Pilot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4 people run the full procedure; check GPS logs and timing</a:t>
            </a:r>
          </a:p>
        </p:txBody>
      </p:sp>
      <p:sp>
        <p:nvSpPr>
          <p:cNvPr id="62" name="Phase 4"/>
          <p:cNvSpPr/>
          <p:nvPr/>
        </p:nvSpPr>
        <p:spPr>
          <a:xfrm>
            <a:off x="900000" y="40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80000" y="40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Sat Dec 5, Dec 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50000" y="40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Sessions 1–2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10 people each. Avoid Dec 17–19 (Hagoita-ichi at Sensō-ji) and the year end</a:t>
            </a:r>
          </a:p>
        </p:txBody>
      </p:sp>
      <p:sp>
        <p:nvSpPr>
          <p:cNvPr id="65" name="Phase 5"/>
          <p:cNvSpPr/>
          <p:nvPr/>
        </p:nvSpPr>
        <p:spPr>
          <a:xfrm>
            <a:off x="900000" y="49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80000" y="49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Sat Jan 16, Jan 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50000" y="49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Sessions 3–4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10 people each. Jan 30 kept as a rain date</a:t>
            </a:r>
          </a:p>
        </p:txBody>
      </p:sp>
      <p:sp>
        <p:nvSpPr>
          <p:cNvPr id="68" name="Phase 6"/>
          <p:cNvSpPr/>
          <p:nvPr/>
        </p:nvSpPr>
        <p:spPr>
          <a:xfrm>
            <a:off x="900000" y="5880000"/>
            <a:ext cx="2900000" cy="76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80000" y="5880000"/>
            <a:ext cx="26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Feb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0000" y="5880000"/>
            <a:ext cx="850000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F46"/>
                </a:solidFill>
                <a:latin typeface="Arial"/>
              </a:rPr>
              <a:t>Analysis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B30"/>
                </a:solidFill>
                <a:latin typeface="Arial"/>
              </a:rPr>
              <a:t>GPS visit counts, time in the core, questionnaires; write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Participants</a:t>
            </a:r>
            <a:endParaRPr/>
          </a:p>
        </p:txBody>
      </p:sp>
      <p:sp>
        <p:nvSpPr>
          <p:cNvPr id="53" name="Participants main study"/>
          <p:cNvSpPr/>
          <p:nvPr/>
        </p:nvSpPr>
        <p:spPr>
          <a:xfrm>
            <a:off x="900000" y="1380000"/>
            <a:ext cx="3683333" cy="155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40000" y="1550000"/>
            <a:ext cx="3203333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40 </a:t>
            </a:r>
            <a:r>
              <a:rPr sz="3000" b="0">
                <a:solidFill>
                  <a:srgbClr val="FFFFFF"/>
                </a:solidFill>
                <a:latin typeface="Arial"/>
              </a:rPr>
              <a:t>main study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20 per group; 4 sessions of 10</a:t>
            </a:r>
          </a:p>
        </p:txBody>
      </p:sp>
      <p:sp>
        <p:nvSpPr>
          <p:cNvPr id="55" name="Participants pilot"/>
          <p:cNvSpPr/>
          <p:nvPr/>
        </p:nvSpPr>
        <p:spPr>
          <a:xfrm>
            <a:off x="4883333" y="1380000"/>
            <a:ext cx="3683333" cy="1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123333" y="1550000"/>
            <a:ext cx="3203333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F46"/>
                </a:solidFill>
                <a:latin typeface="Arial"/>
              </a:rPr>
              <a:t>+4 </a:t>
            </a:r>
            <a:r>
              <a:rPr sz="3000" b="0">
                <a:solidFill>
                  <a:srgbClr val="0F2F46"/>
                </a:solidFill>
                <a:latin typeface="Arial"/>
              </a:rPr>
              <a:t>pilot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Not included in the analysis</a:t>
            </a:r>
          </a:p>
        </p:txBody>
      </p:sp>
      <p:sp>
        <p:nvSpPr>
          <p:cNvPr id="57" name="Participants international"/>
          <p:cNvSpPr/>
          <p:nvPr/>
        </p:nvSpPr>
        <p:spPr>
          <a:xfrm>
            <a:off x="8866666" y="1380000"/>
            <a:ext cx="3683333" cy="15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106666" y="1550000"/>
            <a:ext cx="3203333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F46"/>
                </a:solidFill>
                <a:latin typeface="Arial"/>
              </a:rPr>
              <a:t>~50% </a:t>
            </a:r>
            <a:r>
              <a:rPr sz="3000" b="0">
                <a:solidFill>
                  <a:srgbClr val="0F2F46"/>
                </a:solidFill>
                <a:latin typeface="Arial"/>
              </a:rPr>
              <a:t>international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B30"/>
                </a:solidFill>
                <a:latin typeface="Arial"/>
              </a:rPr>
              <a:t>For the Japanese / foreign comparison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000" y="3280000"/>
            <a:ext cx="5650000" cy="3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Who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Aged 18 or over; Japanese and international students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Own a smartphone that can install the app (iOS or Android)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Able to walk for 2.5 hours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Prior visits to Asakusa are recorded, not excluded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Recruitment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University mailing lists, posters, international student office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Recruit 44–48 so dropouts still leave 20 per group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0000" y="3280000"/>
            <a:ext cx="5650000" cy="3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Group assignment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Random, separately for Japanese and international participants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Friends who sign up together go into the same group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Each session has 5 people in each group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F46"/>
                </a:solidFill>
                <a:latin typeface="Arial"/>
              </a:rPr>
              <a:t>Sample size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20 per group detects a large effect (d ≈ 0.9) at α = 0.05, power = 0.80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>
                <a:solidFill>
                  <a:srgbClr val="262B30"/>
                </a:solidFill>
                <a:latin typeface="Arial"/>
              </a:rPr>
              <a:t>Results are presented as exploratory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Budget estimate</a:t>
            </a:r>
            <a:endParaRPr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900000" y="1380000"/>
          <a:ext cx="11649999" cy="517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61000"/>
                <a:gridCol w="1281500"/>
                <a:gridCol w="815500"/>
                <a:gridCol w="1514500"/>
                <a:gridCol w="4077499"/>
              </a:tblGrid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Unit (¥)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Total (¥)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0000" marR="70000" marT="30000" marB="30000" anchor="ctr">
                    <a:solidFill>
                      <a:srgbClr val="0F2F46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Participation fee (¥3,000 gift card)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132,000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Main 40 + pilot 4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Transport allowance (up to ¥1,000)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44,000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Round trip to Asakusa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Meeting room rental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6,000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Pilot + 4 sessions; about 4 h each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Mobile batteries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2,500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Lent during the walk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8,800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At return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Printing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Consent forms, maps, instructions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Insurance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10,000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10,000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If the university requires it; confirm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Google Maps Places API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Within the free monthly allowance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Contingency (10%)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24,000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B30"/>
                          </a:solidFill>
                          <a:latin typeface="Arial"/>
                        </a:rPr>
                        <a:t>Extra participants, rain date</a:t>
                      </a:r>
                    </a:p>
                  </a:txBody>
                  <a:tcPr marL="70000" marR="70000" marT="30000" marB="3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25E1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>268,800</a:t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25E1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0000" marR="70000" marT="30000" marB="30000" anchor="ctr">
                    <a:solidFill>
                      <a:srgbClr val="E9F6F9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00000" y="6700000"/>
            <a:ext cx="116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6E"/>
                </a:solidFill>
                <a:latin typeface="Arial"/>
              </a:rPr>
              <a:t>Lower option: ¥2,000 fee and no transport allowance, about ¥170,000. Kawanaka et al. (2020) paid ¥5,000 for a 4.5-hour session including transport and lunch.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9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Items to confirm</a:t>
            </a:r>
            <a:endParaRPr/>
          </a:p>
        </p:txBody>
      </p:sp>
      <p:sp>
        <p:nvSpPr>
          <p:cNvPr id="53" name="Confirm card"/>
          <p:cNvSpPr/>
          <p:nvPr/>
        </p:nvSpPr>
        <p:spPr>
          <a:xfrm>
            <a:off x="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46"/>
                </a:solidFill>
                <a:latin typeface="Arial"/>
              </a:rPr>
              <a:t>Questions for you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1. Is the budget acceptable, and which budget code pays for it?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2. Gift cards or cash, and what receipts does the university need?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3. Does this study need ethics review? How long does it take?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4. Are December and January sessions acceptable for my deadline?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62B30"/>
                </a:solidFill>
                <a:latin typeface="Arial"/>
              </a:rPr>
              <a:t>5. Keep the 16 spots, or swap some shrines for variety?</a:t>
            </a:r>
          </a:p>
        </p:txBody>
      </p:sp>
      <p:sp>
        <p:nvSpPr>
          <p:cNvPr id="55" name="Dependencies card"/>
          <p:cNvSpPr/>
          <p:nvPr/>
        </p:nvSpPr>
        <p:spPr>
          <a:xfrm>
            <a:off x="6900000" y="1380000"/>
            <a:ext cx="5650000" cy="5450000"/>
          </a:xfrm>
          <a:prstGeom prst="roundRect">
            <a:avLst>
              <a:gd name="adj" fmla="val 6000"/>
            </a:avLst>
          </a:prstGeom>
          <a:solidFill>
            <a:srgbClr val="0F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80000" y="1610000"/>
            <a:ext cx="5090000" cy="5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BCFDF"/>
                </a:solidFill>
                <a:latin typeface="Arial"/>
              </a:rPr>
              <a:t>Depends on Le Laboratory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Control-group version of the app (no points, missions, ranking or medals)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16 checkpoints, photo missions and the stamp rally on the server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Ranking limited to participants of the same session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Participant ID at registration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Raw GPS log export for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