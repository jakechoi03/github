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67" r:id="rId17"/>
    <p:sldId id="266" r:id="rId16"/>
    <p:sldId id="265" r:id="rId15"/>
    <p:sldId id="264" r:id="rId14"/>
    <p:sldId id="263" r:id="rId13"/>
    <p:sldId id="262" r:id="rId12"/>
    <p:sldId id="261" r:id="rId11"/>
    <p:sldId id="260" r:id="rId10"/>
    <p:sldId id="259" r:id="rId9"/>
    <p:sldId id="258" r:id="rId8"/>
  </p:sldIdLst>
  <p:sldSz cy="7562850" cx="13444525"/>
  <p:notesSz cx="10693400" cy="75628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7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71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9.xml"/><Relationship Id="rId12" Type="http://schemas.openxmlformats.org/officeDocument/2006/relationships/slide" Target="slides/slide8.xml"/><Relationship Id="rId13" Type="http://schemas.openxmlformats.org/officeDocument/2006/relationships/slide" Target="slides/slide7.xml"/><Relationship Id="rId14" Type="http://schemas.openxmlformats.org/officeDocument/2006/relationships/slide" Target="slides/slide6.xml"/><Relationship Id="rId15" Type="http://schemas.openxmlformats.org/officeDocument/2006/relationships/slide" Target="slides/slide5.xml"/><Relationship Id="rId16" Type="http://schemas.openxmlformats.org/officeDocument/2006/relationships/slide" Target="slides/slide4.xml"/><Relationship Id="rId17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633913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057900" y="0"/>
            <a:ext cx="4632325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183438"/>
            <a:ext cx="4633913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Progress report on choosing the study area and the experiment checkpoints, and the decisions still open.</a:t>
            </a:r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closest prior work is Kawanaka et al. 2020. Our study differs mainly in framing, a control group, and a mixed Japanese and foreign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1008342" y="2344485"/>
            <a:ext cx="114278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2016682" y="4235198"/>
            <a:ext cx="94111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878206" y="197151"/>
            <a:ext cx="10538474" cy="841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72227" y="1739457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7222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92393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58550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721581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0F2F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72227" y="1739458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0" y="7303004"/>
            <a:ext cx="13444538" cy="259847"/>
          </a:xfrm>
          <a:prstGeom prst="rect">
            <a:avLst/>
          </a:prstGeom>
          <a:solidFill>
            <a:srgbClr val="7BC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688" y="7257285"/>
            <a:ext cx="13444538" cy="45719"/>
          </a:xfrm>
          <a:prstGeom prst="rect">
            <a:avLst/>
          </a:prstGeom>
          <a:solidFill>
            <a:srgbClr val="0F2F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テキスト&#10;&#10;中程度の精度で自動的に生成された説明" id="15" name="Google Shape;15;p1"/>
          <p:cNvPicPr preferRelativeResize="0"/>
          <p:nvPr/>
        </p:nvPicPr>
        <p:blipFill rotWithShape="1">
          <a:blip r:embed="rId1">
            <a:alphaModFix/>
          </a:blip>
          <a:srcRect b="8768" l="8613" r="72193" t="11999"/>
          <a:stretch/>
        </p:blipFill>
        <p:spPr>
          <a:xfrm>
            <a:off x="11432538" y="100965"/>
            <a:ext cx="1147165" cy="97168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テキスト&#10;&#10;中程度の精度で自動的に生成された説明"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9069" y="6397404"/>
            <a:ext cx="5679597" cy="11654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/>
          <p:nvPr/>
        </p:nvSpPr>
        <p:spPr>
          <a:xfrm rot="10800000">
            <a:off x="-815" y="-11161"/>
            <a:ext cx="13445353" cy="4547234"/>
          </a:xfrm>
          <a:custGeom>
            <a:rect b="b" l="l" r="r" t="t"/>
            <a:pathLst>
              <a:path extrusionOk="0" h="4547234" w="10692130">
                <a:moveTo>
                  <a:pt x="10692003" y="0"/>
                </a:moveTo>
                <a:lnTo>
                  <a:pt x="4137825" y="0"/>
                </a:lnTo>
                <a:lnTo>
                  <a:pt x="4088705" y="1082"/>
                </a:lnTo>
                <a:lnTo>
                  <a:pt x="4039875" y="4311"/>
                </a:lnTo>
                <a:lnTo>
                  <a:pt x="3991396" y="9660"/>
                </a:lnTo>
                <a:lnTo>
                  <a:pt x="3943335" y="17103"/>
                </a:lnTo>
                <a:lnTo>
                  <a:pt x="3895754" y="26613"/>
                </a:lnTo>
                <a:lnTo>
                  <a:pt x="3848718" y="38164"/>
                </a:lnTo>
                <a:lnTo>
                  <a:pt x="3802291" y="51729"/>
                </a:lnTo>
                <a:lnTo>
                  <a:pt x="3756537" y="67281"/>
                </a:lnTo>
                <a:lnTo>
                  <a:pt x="3711521" y="84794"/>
                </a:lnTo>
                <a:lnTo>
                  <a:pt x="3667305" y="104242"/>
                </a:lnTo>
                <a:lnTo>
                  <a:pt x="3623955" y="125597"/>
                </a:lnTo>
                <a:lnTo>
                  <a:pt x="3581534" y="148834"/>
                </a:lnTo>
                <a:lnTo>
                  <a:pt x="3540108" y="173926"/>
                </a:lnTo>
                <a:lnTo>
                  <a:pt x="3499738" y="200845"/>
                </a:lnTo>
                <a:lnTo>
                  <a:pt x="3460491" y="229567"/>
                </a:lnTo>
                <a:lnTo>
                  <a:pt x="3422429" y="260063"/>
                </a:lnTo>
                <a:lnTo>
                  <a:pt x="3385617" y="292308"/>
                </a:lnTo>
                <a:lnTo>
                  <a:pt x="3314622" y="360242"/>
                </a:lnTo>
                <a:lnTo>
                  <a:pt x="3277810" y="392488"/>
                </a:lnTo>
                <a:lnTo>
                  <a:pt x="3239748" y="422985"/>
                </a:lnTo>
                <a:lnTo>
                  <a:pt x="3200500" y="451707"/>
                </a:lnTo>
                <a:lnTo>
                  <a:pt x="3160130" y="478627"/>
                </a:lnTo>
                <a:lnTo>
                  <a:pt x="3118702" y="503720"/>
                </a:lnTo>
                <a:lnTo>
                  <a:pt x="3076280" y="526957"/>
                </a:lnTo>
                <a:lnTo>
                  <a:pt x="3032929" y="548314"/>
                </a:lnTo>
                <a:lnTo>
                  <a:pt x="2988713" y="567763"/>
                </a:lnTo>
                <a:lnTo>
                  <a:pt x="2943695" y="585277"/>
                </a:lnTo>
                <a:lnTo>
                  <a:pt x="2897940" y="600830"/>
                </a:lnTo>
                <a:lnTo>
                  <a:pt x="2851512" y="614396"/>
                </a:lnTo>
                <a:lnTo>
                  <a:pt x="2804475" y="625947"/>
                </a:lnTo>
                <a:lnTo>
                  <a:pt x="2756894" y="635458"/>
                </a:lnTo>
                <a:lnTo>
                  <a:pt x="2708832" y="642902"/>
                </a:lnTo>
                <a:lnTo>
                  <a:pt x="2660353" y="648252"/>
                </a:lnTo>
                <a:lnTo>
                  <a:pt x="2611522" y="651481"/>
                </a:lnTo>
                <a:lnTo>
                  <a:pt x="2562402" y="652564"/>
                </a:lnTo>
                <a:lnTo>
                  <a:pt x="0" y="652564"/>
                </a:lnTo>
                <a:lnTo>
                  <a:pt x="0" y="4546638"/>
                </a:lnTo>
                <a:lnTo>
                  <a:pt x="10692003" y="4546638"/>
                </a:lnTo>
                <a:lnTo>
                  <a:pt x="10692003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Cover title"/>
          <p:cNvSpPr txBox="1"/>
          <p:nvPr/>
        </p:nvSpPr>
        <p:spPr>
          <a:xfrm>
            <a:off x="900000" y="1250000"/>
            <a:ext cx="112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F2F46"/>
                </a:solidFill>
                <a:latin typeface="Arial"/>
              </a:rPr>
              <a:t>Spot Selection for a Gamified Tourism Experiment in Asakusa</a:t>
            </a:r>
          </a:p>
        </p:txBody>
      </p:sp>
      <p:sp>
        <p:nvSpPr>
          <p:cNvPr id="48" name="Cover subtitle"/>
          <p:cNvSpPr txBox="1"/>
          <p:nvPr/>
        </p:nvSpPr>
        <p:spPr>
          <a:xfrm>
            <a:off x="900000" y="2900000"/>
            <a:ext cx="112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F2F46"/>
                </a:solidFill>
                <a:latin typeface="Arial"/>
              </a:rPr>
              <a:t>Progress report: study area, checkpoints and open decisions</a:t>
            </a:r>
          </a:p>
        </p:txBody>
      </p:sp>
      <p:sp>
        <p:nvSpPr>
          <p:cNvPr id="49" name="Cover byline"/>
          <p:cNvSpPr txBox="1"/>
          <p:nvPr/>
        </p:nvSpPr>
        <p:spPr>
          <a:xfrm>
            <a:off x="900000" y="4950000"/>
            <a:ext cx="112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HyoSeok (Jake) Choi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46E"/>
                </a:solidFill>
                <a:latin typeface="Arial"/>
              </a:rPr>
              <a:t>13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TOC number 1"/>
          <p:cNvSpPr/>
          <p:nvPr/>
        </p:nvSpPr>
        <p:spPr>
          <a:xfrm>
            <a:off x="900000" y="1440000"/>
            <a:ext cx="520000" cy="520000"/>
          </a:xfrm>
          <a:prstGeom prst="ellipse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00000" y="14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50000" y="14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Background and research goal</a:t>
            </a:r>
          </a:p>
        </p:txBody>
      </p:sp>
      <p:sp>
        <p:nvSpPr>
          <p:cNvPr id="56" name="TOC number 2"/>
          <p:cNvSpPr/>
          <p:nvPr/>
        </p:nvSpPr>
        <p:spPr>
          <a:xfrm>
            <a:off x="900000" y="2040000"/>
            <a:ext cx="520000" cy="520000"/>
          </a:xfrm>
          <a:prstGeom prst="ellipse">
            <a:avLst/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00000" y="20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50000" y="20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Study area: why Asakusa</a:t>
            </a:r>
          </a:p>
        </p:txBody>
      </p:sp>
      <p:sp>
        <p:nvSpPr>
          <p:cNvPr id="59" name="TOC number 3"/>
          <p:cNvSpPr/>
          <p:nvPr/>
        </p:nvSpPr>
        <p:spPr>
          <a:xfrm>
            <a:off x="900000" y="2640000"/>
            <a:ext cx="520000" cy="520000"/>
          </a:xfrm>
          <a:prstGeom prst="ellipse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00000" y="26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50000" y="26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Spot selection method</a:t>
            </a:r>
          </a:p>
        </p:txBody>
      </p:sp>
      <p:sp>
        <p:nvSpPr>
          <p:cNvPr id="62" name="TOC number 4"/>
          <p:cNvSpPr/>
          <p:nvPr/>
        </p:nvSpPr>
        <p:spPr>
          <a:xfrm>
            <a:off x="900000" y="3240000"/>
            <a:ext cx="520000" cy="520000"/>
          </a:xfrm>
          <a:prstGeom prst="ellipse">
            <a:avLst/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00000" y="32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50000" y="32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Selected checkpoints</a:t>
            </a:r>
          </a:p>
        </p:txBody>
      </p:sp>
      <p:sp>
        <p:nvSpPr>
          <p:cNvPr id="65" name="TOC number 5"/>
          <p:cNvSpPr/>
          <p:nvPr/>
        </p:nvSpPr>
        <p:spPr>
          <a:xfrm>
            <a:off x="900000" y="3840000"/>
            <a:ext cx="520000" cy="520000"/>
          </a:xfrm>
          <a:prstGeom prst="ellipse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0000" y="38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50000" y="38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Open decisions on the spot list</a:t>
            </a:r>
          </a:p>
        </p:txBody>
      </p:sp>
      <p:sp>
        <p:nvSpPr>
          <p:cNvPr id="68" name="TOC number 6"/>
          <p:cNvSpPr/>
          <p:nvPr/>
        </p:nvSpPr>
        <p:spPr>
          <a:xfrm>
            <a:off x="900000" y="4440000"/>
            <a:ext cx="520000" cy="520000"/>
          </a:xfrm>
          <a:prstGeom prst="ellipse">
            <a:avLst/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00000" y="44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50000" y="44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Experiment design</a:t>
            </a:r>
          </a:p>
        </p:txBody>
      </p:sp>
      <p:sp>
        <p:nvSpPr>
          <p:cNvPr id="71" name="TOC number 7"/>
          <p:cNvSpPr/>
          <p:nvPr/>
        </p:nvSpPr>
        <p:spPr>
          <a:xfrm>
            <a:off x="900000" y="5040000"/>
            <a:ext cx="520000" cy="520000"/>
          </a:xfrm>
          <a:prstGeom prst="ellipse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00000" y="50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50000" y="50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Hypotheses and measures</a:t>
            </a:r>
          </a:p>
        </p:txBody>
      </p:sp>
      <p:sp>
        <p:nvSpPr>
          <p:cNvPr id="74" name="TOC number 8"/>
          <p:cNvSpPr/>
          <p:nvPr/>
        </p:nvSpPr>
        <p:spPr>
          <a:xfrm>
            <a:off x="900000" y="5640000"/>
            <a:ext cx="520000" cy="520000"/>
          </a:xfrm>
          <a:prstGeom prst="ellipse">
            <a:avLst/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00000" y="56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50000" y="56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Surveys and app changes</a:t>
            </a:r>
          </a:p>
        </p:txBody>
      </p:sp>
      <p:sp>
        <p:nvSpPr>
          <p:cNvPr id="77" name="TOC number 9"/>
          <p:cNvSpPr/>
          <p:nvPr/>
        </p:nvSpPr>
        <p:spPr>
          <a:xfrm>
            <a:off x="900000" y="6240000"/>
            <a:ext cx="520000" cy="520000"/>
          </a:xfrm>
          <a:prstGeom prst="ellipse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900000" y="62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50000" y="62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Next steps and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Background and research goal</a:t>
            </a:r>
            <a:endParaRPr/>
          </a:p>
        </p:txBody>
      </p:sp>
      <p:sp>
        <p:nvSpPr>
          <p:cNvPr id="53" name="Research question card"/>
          <p:cNvSpPr/>
          <p:nvPr/>
        </p:nvSpPr>
        <p:spPr>
          <a:xfrm>
            <a:off x="900000" y="1380000"/>
            <a:ext cx="5300000" cy="235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80000" y="1610000"/>
            <a:ext cx="4750000" cy="19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BCFDF"/>
                </a:solidFill>
                <a:latin typeface="Arial"/>
              </a:rPr>
              <a:t>Research question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Can gamification features in a tourism app lead visitors from crowded famous spots to less popular spots nearby?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000" y="3980000"/>
            <a:ext cx="5300000" cy="2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Reference study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46E"/>
                </a:solidFill>
                <a:latin typeface="Arial"/>
              </a:rPr>
              <a:t>Kawanaka et al. (2020), Smart Cities 3, 736-757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Kyoto, 33 students, 3 reward schemes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Higher points at lesser-known spots changed routes and stay time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Check-in missions lowered sightseeing enjoyment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50000" y="1380000"/>
            <a:ext cx="6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What this study adds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6550000" y="1860000"/>
          <a:ext cx="6000000" cy="336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620000"/>
                <a:gridCol w="2160000"/>
                <a:gridCol w="2220000"/>
              </a:tblGrid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Kawanaka et al. (2020)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This study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Framing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Collecting tourism data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Reducing overtourism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Control group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Yes: with vs without gamification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Participants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33 students, mostly Japanese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Japanese and foreign tourists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User motivation type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Nationality and region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Kyoto (Higashiyama)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Tokyo (Asakusa)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area: why Asakusa</a:t>
            </a:r>
            <a:endParaRPr/>
          </a:p>
        </p:txBody>
      </p:sp>
      <p:sp>
        <p:nvSpPr>
          <p:cNvPr id="53" name="Criterion card 1"/>
          <p:cNvSpPr/>
          <p:nvPr/>
        </p:nvSpPr>
        <p:spPr>
          <a:xfrm>
            <a:off x="900000" y="1380000"/>
            <a:ext cx="2687500" cy="27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00000" y="1580000"/>
            <a:ext cx="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7BCFDF"/>
                </a:solidFill>
                <a:latin typeface="Arial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0000" y="2180000"/>
            <a:ext cx="22875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Clear overtourism hotspot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B30"/>
                </a:solidFill>
                <a:latin typeface="Arial"/>
              </a:rPr>
              <a:t>Sensō-ji has about 100,000 Google reviews, the most in the area by far.</a:t>
            </a:r>
          </a:p>
        </p:txBody>
      </p:sp>
      <p:sp>
        <p:nvSpPr>
          <p:cNvPr id="56" name="Criterion card 2"/>
          <p:cNvSpPr/>
          <p:nvPr/>
        </p:nvSpPr>
        <p:spPr>
          <a:xfrm>
            <a:off x="3887500" y="1380000"/>
            <a:ext cx="2687500" cy="27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087500" y="1580000"/>
            <a:ext cx="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7BCFDF"/>
                </a:solidFill>
                <a:latin typeface="Arial"/>
              </a:rPr>
              <a:t>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87500" y="2180000"/>
            <a:ext cx="22875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Japanese and foreign visitors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B30"/>
                </a:solidFill>
                <a:latin typeface="Arial"/>
              </a:rPr>
              <a:t>Needed for the nationality comparison in this study.</a:t>
            </a:r>
          </a:p>
        </p:txBody>
      </p:sp>
      <p:sp>
        <p:nvSpPr>
          <p:cNvPr id="59" name="Criterion card 3"/>
          <p:cNvSpPr/>
          <p:nvPr/>
        </p:nvSpPr>
        <p:spPr>
          <a:xfrm>
            <a:off x="6875000" y="1380000"/>
            <a:ext cx="2687500" cy="27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075000" y="1580000"/>
            <a:ext cx="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7BCFDF"/>
                </a:solidFill>
                <a:latin typeface="Arial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75000" y="2180000"/>
            <a:ext cx="22875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Alternatives nearby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B30"/>
                </a:solidFill>
                <a:latin typeface="Arial"/>
              </a:rPr>
              <a:t>Shrines, parks, museums and shopping streets 0.5–1.5 km from the core.</a:t>
            </a:r>
          </a:p>
        </p:txBody>
      </p:sp>
      <p:sp>
        <p:nvSpPr>
          <p:cNvPr id="62" name="Criterion card 4"/>
          <p:cNvSpPr/>
          <p:nvPr/>
        </p:nvSpPr>
        <p:spPr>
          <a:xfrm>
            <a:off x="9862500" y="1380000"/>
            <a:ext cx="2687500" cy="27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062500" y="1580000"/>
            <a:ext cx="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7BCFDF"/>
                </a:solidFill>
                <a:latin typeface="Arial"/>
              </a:rP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62500" y="2180000"/>
            <a:ext cx="22875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Walkable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B30"/>
                </a:solidFill>
                <a:latin typeface="Arial"/>
              </a:rPr>
              <a:t>Everything fits in a 1.5 km radius, about a 20-minute walk from Kaminarimon.</a:t>
            </a:r>
          </a:p>
        </p:txBody>
      </p:sp>
      <p:sp>
        <p:nvSpPr>
          <p:cNvPr id="65" name="Boundary card"/>
          <p:cNvSpPr/>
          <p:nvPr/>
        </p:nvSpPr>
        <p:spPr>
          <a:xfrm>
            <a:off x="900000" y="4430000"/>
            <a:ext cx="1165000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B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200000" y="4630000"/>
            <a:ext cx="1105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Study area boundary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Circle of 1.5 km radius centred on Kaminarimon Gate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West bank of the Sumida River only, so Tokyo Skytree does not act as a second hub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Less popular spots must be 300 m to 1.5 km from a popular spot: close enough to substitute, far enough to be a separate 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Spot selection method</a:t>
            </a:r>
            <a:endParaRPr/>
          </a:p>
        </p:txBody>
      </p:sp>
      <p:sp>
        <p:nvSpPr>
          <p:cNvPr id="53" name="Step 1"/>
          <p:cNvSpPr/>
          <p:nvPr/>
        </p:nvSpPr>
        <p:spPr>
          <a:xfrm>
            <a:off x="900000" y="1580000"/>
            <a:ext cx="2450000" cy="33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00000" y="1780000"/>
            <a:ext cx="2050000" cy="2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A646E"/>
                </a:solidFill>
                <a:latin typeface="Arial"/>
              </a:rPr>
              <a:t>Step 1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0F2F46"/>
                </a:solidFill>
                <a:latin typeface="Arial"/>
              </a:rPr>
              <a:t>520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places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B30"/>
                </a:solidFill>
                <a:latin typeface="Arial"/>
              </a:rPr>
              <a:t>Google Maps scrape within 1.5 km of Kaminarimon (13 Oct 2026)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3498333" y="3030000"/>
            <a:ext cx="320000" cy="380000"/>
          </a:xfrm>
          <a:prstGeom prst="rightArrow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tep 2"/>
          <p:cNvSpPr/>
          <p:nvPr/>
        </p:nvSpPr>
        <p:spPr>
          <a:xfrm>
            <a:off x="3966666" y="1580000"/>
            <a:ext cx="2450000" cy="33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166666" y="1780000"/>
            <a:ext cx="2050000" cy="2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A646E"/>
                </a:solidFill>
                <a:latin typeface="Arial"/>
              </a:rPr>
              <a:t>Step 2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0F2F46"/>
                </a:solidFill>
                <a:latin typeface="Arial"/>
              </a:rPr>
              <a:t>56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candidates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B30"/>
                </a:solidFill>
                <a:latin typeface="Arial"/>
              </a:rPr>
              <a:t>Public, non-commercial, west of the river, 50+ reviews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6564999" y="3030000"/>
            <a:ext cx="320000" cy="380000"/>
          </a:xfrm>
          <a:prstGeom prst="rightArrow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tep 3"/>
          <p:cNvSpPr/>
          <p:nvPr/>
        </p:nvSpPr>
        <p:spPr>
          <a:xfrm>
            <a:off x="7033332" y="1580000"/>
            <a:ext cx="2450000" cy="33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233332" y="1780000"/>
            <a:ext cx="2050000" cy="2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A646E"/>
                </a:solidFill>
                <a:latin typeface="Arial"/>
              </a:rPr>
              <a:t>Step 3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0F2F46"/>
                </a:solidFill>
                <a:latin typeface="Arial"/>
              </a:rPr>
              <a:t>3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classes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B30"/>
                </a:solidFill>
                <a:latin typeface="Arial"/>
              </a:rPr>
              <a:t>Jenks natural breaks on log review count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631665" y="3030000"/>
            <a:ext cx="320000" cy="380000"/>
          </a:xfrm>
          <a:prstGeom prst="rightArrow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tep 4"/>
          <p:cNvSpPr/>
          <p:nvPr/>
        </p:nvSpPr>
        <p:spPr>
          <a:xfrm>
            <a:off x="10099998" y="1580000"/>
            <a:ext cx="2450000" cy="330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299998" y="1780000"/>
            <a:ext cx="2050000" cy="2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BCFDF"/>
                </a:solidFill>
                <a:latin typeface="Arial"/>
              </a:rPr>
              <a:t>Step 4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16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checkpoints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All at least 300 m apart (app check-in radius)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0000" y="5230000"/>
            <a:ext cx="1165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Why review counts?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Reproducible and widely used as a proxy for visitor volume. Kawanaka et al. (2020) used a similar measure (web search hits).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Jenks breaks set the popular / less popular cut at a natural gap in the data, not an arbitrary percentile.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Result: 16 checkpoints</a:t>
            </a:r>
            <a:endParaRPr/>
          </a:p>
        </p:txBody>
      </p:sp>
      <p:pic>
        <p:nvPicPr>
          <p:cNvPr id="53" name="Picture 52" descr="asakusa_spot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330000"/>
            <a:ext cx="5520000" cy="5520000"/>
          </a:xfrm>
          <a:prstGeom prst="rect">
            <a:avLst/>
          </a:prstGeom>
        </p:spPr>
      </p:pic>
      <p:sp>
        <p:nvSpPr>
          <p:cNvPr id="54" name="Class High (popular)"/>
          <p:cNvSpPr/>
          <p:nvPr/>
        </p:nvSpPr>
        <p:spPr>
          <a:xfrm>
            <a:off x="6770000" y="1380000"/>
            <a:ext cx="5780000" cy="115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990000" y="1530000"/>
            <a:ext cx="53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High (popular)  </a:t>
            </a:r>
            <a:r>
              <a:rPr sz="1600" b="0">
                <a:solidFill>
                  <a:srgbClr val="FFFFFF"/>
                </a:solidFill>
                <a:latin typeface="Arial"/>
              </a:rPr>
              <a:t>≥ 13,091 reviews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Sensō-ji, Kaminarimon, Kappabashi</a:t>
            </a:r>
          </a:p>
        </p:txBody>
      </p:sp>
      <p:sp>
        <p:nvSpPr>
          <p:cNvPr id="56" name="Class Medium"/>
          <p:cNvSpPr/>
          <p:nvPr/>
        </p:nvSpPr>
        <p:spPr>
          <a:xfrm>
            <a:off x="6770000" y="2680000"/>
            <a:ext cx="5780000" cy="11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990000" y="2830000"/>
            <a:ext cx="53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Medium  </a:t>
            </a:r>
            <a:r>
              <a:rPr sz="1600" b="0">
                <a:solidFill>
                  <a:srgbClr val="0F2F46"/>
                </a:solidFill>
                <a:latin typeface="Arial"/>
              </a:rPr>
              <a:t>597 – 13,090 reviews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7 checkpoints, mostly shrines</a:t>
            </a:r>
          </a:p>
        </p:txBody>
      </p:sp>
      <p:sp>
        <p:nvSpPr>
          <p:cNvPr id="58" name="Class Low"/>
          <p:cNvSpPr/>
          <p:nvPr/>
        </p:nvSpPr>
        <p:spPr>
          <a:xfrm>
            <a:off x="6770000" y="3980000"/>
            <a:ext cx="5780000" cy="11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990000" y="4130000"/>
            <a:ext cx="53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Low  </a:t>
            </a:r>
            <a:r>
              <a:rPr sz="1600" b="0">
                <a:solidFill>
                  <a:srgbClr val="0F2F46"/>
                </a:solidFill>
                <a:latin typeface="Arial"/>
              </a:rPr>
              <a:t>&lt; 597 reviews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6 checkpoints: museums, parks, shrines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70000" y="5330000"/>
            <a:ext cx="578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>
                <a:solidFill>
                  <a:srgbClr val="262B30"/>
                </a:solidFill>
                <a:latin typeface="Arial"/>
              </a:rPr>
              <a:t>Nakamise is merged into the Kaminarimon checkpoint (85 m apart).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>
                <a:solidFill>
                  <a:srgbClr val="262B30"/>
                </a:solidFill>
                <a:latin typeface="Arial"/>
              </a:rPr>
              <a:t>Minimum distance between any two checkpoints: 310 m.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>
                <a:solidFill>
                  <a:srgbClr val="5A646E"/>
                </a:solidFill>
                <a:latin typeface="Arial"/>
              </a:rPr>
              <a:t>Distances are straight-line, not walking routes.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Selected checkpoints</a:t>
            </a:r>
            <a:endParaRPr/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900000" y="1380000"/>
          <a:ext cx="5650000" cy="468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95500"/>
                <a:gridCol w="2373000"/>
                <a:gridCol w="1073500"/>
                <a:gridCol w="904000"/>
                <a:gridCol w="904000"/>
              </a:tblGrid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Spot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Dist. (m)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25E12"/>
                          </a:solidFill>
                          <a:latin typeface="Arial"/>
                        </a:rPr>
                        <a:t>Sensō-ji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Temple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99,946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25E12"/>
                          </a:solidFill>
                          <a:latin typeface="Arial"/>
                        </a:rPr>
                        <a:t>Kaminarimon Gate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Landmark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38,668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25E12"/>
                          </a:solidFill>
                          <a:latin typeface="Arial"/>
                        </a:rPr>
                        <a:t>Kappabashi Kitchen Town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Shopping street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13,091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25E1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Imado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4,271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Ōtori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3,252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Shitaya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2,115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Torikoe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1,670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974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Kuramae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1,238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6900000" y="1380000"/>
          <a:ext cx="5650000" cy="468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95500"/>
                <a:gridCol w="2373000"/>
                <a:gridCol w="1073500"/>
                <a:gridCol w="904000"/>
                <a:gridCol w="904000"/>
              </a:tblGrid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Spot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Dist. (m)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Iriya South Park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Park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757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Yasaki Inari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Dairokuten Sakaki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1,158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World Bags &amp; Luggage Museum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Museum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Edo Taitō Crafts Museum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Museum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Asakusa Fuji Sengen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Sumida River Ryokudō Park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Park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1,140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Miyamoto-Unosuke Drum Museum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Museum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62B30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900000" y="6700000"/>
            <a:ext cx="116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Orange = popular checkpoint. Dist. = straight-line distance to the nearest popular checkpoint. "Shrine" dropped from names to save space; reviews = Google Maps review count on 13 Oct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decisions on the spot list</a:t>
            </a:r>
            <a:endParaRPr/>
          </a:p>
        </p:txBody>
      </p:sp>
      <p:sp>
        <p:nvSpPr>
          <p:cNvPr id="53" name="Decision card 1"/>
          <p:cNvSpPr/>
          <p:nvPr/>
        </p:nvSpPr>
        <p:spPr>
          <a:xfrm>
            <a:off x="900000" y="1380000"/>
            <a:ext cx="5675000" cy="25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50000" y="1580000"/>
            <a:ext cx="5175000" cy="2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F2F46"/>
                </a:solidFill>
                <a:latin typeface="Arial"/>
              </a:rPr>
              <a:t>1. Spot variety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B30"/>
                </a:solidFill>
                <a:latin typeface="Arial"/>
              </a:rPr>
              <a:t>9 of 13 less popular spots are shrines.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Recommendation: </a:t>
            </a:r>
            <a:r>
              <a:rPr sz="1800" b="0">
                <a:solidFill>
                  <a:srgbClr val="0F2F46"/>
                </a:solidFill>
                <a:latin typeface="Arial"/>
              </a:rPr>
              <a:t>Swap Yasaki Inari → Kappabashi Hondōri, and Kuramae Shrine → Seika Park (7 of 13).</a:t>
            </a:r>
          </a:p>
        </p:txBody>
      </p:sp>
      <p:sp>
        <p:nvSpPr>
          <p:cNvPr id="55" name="Decision card 2"/>
          <p:cNvSpPr/>
          <p:nvPr/>
        </p:nvSpPr>
        <p:spPr>
          <a:xfrm>
            <a:off x="6875000" y="1380000"/>
            <a:ext cx="5675000" cy="25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125000" y="1580000"/>
            <a:ext cx="5175000" cy="2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F2F46"/>
                </a:solidFill>
                <a:latin typeface="Arial"/>
              </a:rPr>
              <a:t>2. Shōden or Imado Shrine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B30"/>
                </a:solidFill>
                <a:latin typeface="Arial"/>
              </a:rPr>
              <a:t>Only 209 m apart, so one must go.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Recommendation: </a:t>
            </a:r>
            <a:r>
              <a:rPr sz="1800" b="0">
                <a:solidFill>
                  <a:srgbClr val="0F2F46"/>
                </a:solidFill>
                <a:latin typeface="Arial"/>
              </a:rPr>
              <a:t>Keep Imado (4,271 vs 2,495 reviews), following the stated rule.</a:t>
            </a:r>
          </a:p>
        </p:txBody>
      </p:sp>
      <p:sp>
        <p:nvSpPr>
          <p:cNvPr id="57" name="Decision card 3"/>
          <p:cNvSpPr/>
          <p:nvPr/>
        </p:nvSpPr>
        <p:spPr>
          <a:xfrm>
            <a:off x="900000" y="4180000"/>
            <a:ext cx="5675000" cy="25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50000" y="4380000"/>
            <a:ext cx="5175000" cy="2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F2F46"/>
                </a:solidFill>
                <a:latin typeface="Arial"/>
              </a:rPr>
              <a:t>3. Radius: 1.5 or 1.2 km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B30"/>
                </a:solidFill>
                <a:latin typeface="Arial"/>
              </a:rPr>
              <a:t>1.2 km removes 4 outer shrines, ~21 min walk each way.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Recommendation: </a:t>
            </a:r>
            <a:r>
              <a:rPr sz="1800" b="0">
                <a:solidFill>
                  <a:srgbClr val="0F2F46"/>
                </a:solidFill>
                <a:latin typeface="Arial"/>
              </a:rPr>
              <a:t>1.2 km for 2–3 h sessions; 1.5 km for 4 h or more.</a:t>
            </a:r>
          </a:p>
        </p:txBody>
      </p:sp>
      <p:sp>
        <p:nvSpPr>
          <p:cNvPr id="59" name="Decision card 4"/>
          <p:cNvSpPr/>
          <p:nvPr/>
        </p:nvSpPr>
        <p:spPr>
          <a:xfrm>
            <a:off x="6875000" y="4180000"/>
            <a:ext cx="5675000" cy="25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125000" y="4380000"/>
            <a:ext cx="5175000" cy="2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F2F46"/>
                </a:solidFill>
                <a:latin typeface="Arial"/>
              </a:rPr>
              <a:t>4. River boundary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B30"/>
                </a:solidFill>
                <a:latin typeface="Arial"/>
              </a:rPr>
              <a:t>The river line was traced by hand.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Recommendation: </a:t>
            </a:r>
            <a:r>
              <a:rPr sz="1800" b="0">
                <a:solidFill>
                  <a:srgbClr val="0F2F46"/>
                </a:solidFill>
                <a:latin typeface="Arial"/>
              </a:rPr>
              <a:t>Check addresses of 3 spots near the river (should say 台東区).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 design: with vs without gamification</a:t>
            </a:r>
            <a:endParaRPr/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900000" y="1380000"/>
          <a:ext cx="7300000" cy="210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482000"/>
                <a:gridCol w="4818000"/>
              </a:tblGrid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Group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What participants see in the app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Without gamification (control)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Map with all 16 checkpoints and spot information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With gamification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The same map, plus points, missions, a stamp rally, ranking and medals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900000" y="3730000"/>
            <a:ext cx="7300000" cy="3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Only gamification differs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1">
                <a:solidFill>
                  <a:srgbClr val="262B30"/>
                </a:solidFill>
                <a:latin typeface="Arial"/>
              </a:rPr>
              <a:t>Equal rewards at every checkpoint: </a:t>
            </a:r>
            <a:r>
              <a:rPr sz="1700" b="0">
                <a:solidFill>
                  <a:srgbClr val="262B30"/>
                </a:solidFill>
                <a:latin typeface="Arial"/>
              </a:rPr>
              <a:t>no extra points for less popular spots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1">
                <a:solidFill>
                  <a:srgbClr val="262B30"/>
                </a:solidFill>
                <a:latin typeface="Arial"/>
              </a:rPr>
              <a:t>Stamp rally of all 16 checkpoints: </a:t>
            </a:r>
            <a:r>
              <a:rPr sz="1700" b="0">
                <a:solidFill>
                  <a:srgbClr val="262B30"/>
                </a:solidFill>
                <a:latin typeface="Arial"/>
              </a:rPr>
              <a:t>13 of 16 stamps are at less popular spots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1">
                <a:solidFill>
                  <a:srgbClr val="262B30"/>
                </a:solidFill>
                <a:latin typeface="Arial"/>
              </a:rPr>
              <a:t>Same fee for everyone: </a:t>
            </a:r>
            <a:r>
              <a:rPr sz="1700" b="0">
                <a:solidFill>
                  <a:srgbClr val="262B30"/>
                </a:solidFill>
                <a:latin typeface="Arial"/>
              </a:rPr>
              <a:t>no bonus by ranking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1">
                <a:solidFill>
                  <a:srgbClr val="262B30"/>
                </a:solidFill>
                <a:latin typeface="Arial"/>
              </a:rPr>
              <a:t>Same measurement: </a:t>
            </a:r>
            <a:r>
              <a:rPr sz="1700" b="0">
                <a:solidFill>
                  <a:srgbClr val="262B30"/>
                </a:solidFill>
                <a:latin typeface="Arial"/>
              </a:rPr>
              <a:t>automatic GPS check-in in both groups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1">
                <a:solidFill>
                  <a:srgbClr val="262B30"/>
                </a:solidFill>
                <a:latin typeface="Arial"/>
              </a:rPr>
              <a:t>Random assignment </a:t>
            </a:r>
            <a:r>
              <a:rPr sz="1700" b="0">
                <a:solidFill>
                  <a:srgbClr val="262B30"/>
                </a:solidFill>
                <a:latin typeface="Arial"/>
              </a:rPr>
              <a:t>within Japanese and foreign participants</a:t>
            </a:r>
          </a:p>
        </p:txBody>
      </p:sp>
      <p:sp>
        <p:nvSpPr>
          <p:cNvPr id="55" name="Sample size 26"/>
          <p:cNvSpPr/>
          <p:nvPr/>
        </p:nvSpPr>
        <p:spPr>
          <a:xfrm>
            <a:off x="8550000" y="1380000"/>
            <a:ext cx="4000000" cy="160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800000" y="1530000"/>
            <a:ext cx="3500000" cy="1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26 </a:t>
            </a:r>
            <a:r>
              <a:rPr sz="2800" b="0">
                <a:solidFill>
                  <a:srgbClr val="FFFFFF"/>
                </a:solidFill>
                <a:latin typeface="Arial"/>
              </a:rPr>
              <a:t>per group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Large effect (d = 0.8)</a:t>
            </a:r>
          </a:p>
        </p:txBody>
      </p:sp>
      <p:sp>
        <p:nvSpPr>
          <p:cNvPr id="57" name="Sample size 64"/>
          <p:cNvSpPr/>
          <p:nvPr/>
        </p:nvSpPr>
        <p:spPr>
          <a:xfrm>
            <a:off x="8550000" y="3180000"/>
            <a:ext cx="4000000" cy="160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800000" y="3330000"/>
            <a:ext cx="3500000" cy="1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64 </a:t>
            </a:r>
            <a:r>
              <a:rPr sz="2800" b="0">
                <a:solidFill>
                  <a:srgbClr val="FFFFFF"/>
                </a:solidFill>
                <a:latin typeface="Arial"/>
              </a:rPr>
              <a:t>per group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Medium effect (d = 0.5)</a:t>
            </a:r>
          </a:p>
        </p:txBody>
      </p:sp>
      <p:sp>
        <p:nvSpPr>
          <p:cNvPr id="59" name="Sample size 11"/>
          <p:cNvSpPr/>
          <p:nvPr/>
        </p:nvSpPr>
        <p:spPr>
          <a:xfrm>
            <a:off x="8550000" y="4980000"/>
            <a:ext cx="4000000" cy="16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800000" y="5130000"/>
            <a:ext cx="3500000" cy="1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F2F46"/>
                </a:solidFill>
                <a:latin typeface="Arial"/>
              </a:rPr>
              <a:t>11 </a:t>
            </a:r>
            <a:r>
              <a:rPr sz="2800" b="0">
                <a:solidFill>
                  <a:srgbClr val="0F2F46"/>
                </a:solidFill>
                <a:latin typeface="Arial"/>
              </a:rPr>
              <a:t>per group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B30"/>
                </a:solidFill>
                <a:latin typeface="Arial"/>
              </a:rPr>
              <a:t>Kawanaka et al. (2020), for comparison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50000" y="6800000"/>
            <a:ext cx="4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α = 0.05, power = 0.80; to be confirmed with G*Power.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Hypotheses and measures</a:t>
            </a:r>
            <a:endParaRPr/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900000" y="1380000"/>
          <a:ext cx="11650000" cy="384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699000"/>
                <a:gridCol w="3728000"/>
                <a:gridCol w="4427000"/>
                <a:gridCol w="2796000"/>
              </a:tblGrid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The gamification group…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Measure (app logs)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visits more less popular checkpoints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Distinct less popular checkpoints visited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Mann–Whitney U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has a larger share of visits at less popular checkpoints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Less popular visits ÷ all checkpoint visits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Mann–Whitney U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travels farther from the crowded core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Max distance from Kaminarimon; time &gt; 300 m from popular spots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Mann–Whitney U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H4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shows an effect that differs by origin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H1 measure by group × Japanese / foreign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Poisson / neg. binomial regression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H5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is no less satisfied with the trip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Post-survey satisfaction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Mann–Whitney U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H1 H2 note"/>
          <p:cNvSpPr/>
          <p:nvPr/>
        </p:nvSpPr>
        <p:spPr>
          <a:xfrm>
            <a:off x="900000" y="5630000"/>
            <a:ext cx="11650000" cy="11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180000" y="5630000"/>
            <a:ext cx="11090000" cy="1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Why H1 and H2 together: </a:t>
            </a:r>
            <a:r>
              <a:rPr sz="1600" b="0">
                <a:solidFill>
                  <a:srgbClr val="0F2F46"/>
                </a:solidFill>
                <a:latin typeface="Arial"/>
              </a:rPr>
              <a:t>gamification may raise visits everywhere. H1 alone could rise with no shift away from popular spots; H2 shows whether the balance actually moves.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Surveys and app changes</a:t>
            </a:r>
            <a:endParaRPr/>
          </a:p>
        </p:txBody>
      </p:sp>
      <p:sp>
        <p:nvSpPr>
          <p:cNvPr id="53" name="Survey card"/>
          <p:cNvSpPr/>
          <p:nvPr/>
        </p:nvSpPr>
        <p:spPr>
          <a:xfrm>
            <a:off x="900000" y="1380000"/>
            <a:ext cx="5650000" cy="54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80000" y="1610000"/>
            <a:ext cx="5090000" cy="5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Pre-survey (in the app)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Add country of residence and nationality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Replace "visits to Yamanashi" with visits to Asakusa / Tokyo</a:t>
            </a:r>
          </a:p>
          <a:p>
            <a:pPr algn="l" marL="228600" indent="-228600">
              <a:spcAft>
                <a:spcPts val="1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Add a motivation question (sightseeing, game or reward)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Post-survey (to build)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Sightseeing vs mission priority (comparable with Kawanaka et al.)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Satisfaction, discovery of new places, perceived crowding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Intention to revisit, free comment</a:t>
            </a:r>
          </a:p>
        </p:txBody>
      </p:sp>
      <p:sp>
        <p:nvSpPr>
          <p:cNvPr id="55" name="App card"/>
          <p:cNvSpPr/>
          <p:nvPr/>
        </p:nvSpPr>
        <p:spPr>
          <a:xfrm>
            <a:off x="6900000" y="1380000"/>
            <a:ext cx="5650000" cy="5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B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180000" y="1610000"/>
            <a:ext cx="5090000" cy="5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App changes (from the code review)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1">
                <a:solidFill>
                  <a:srgbClr val="262B30"/>
                </a:solidFill>
                <a:latin typeface="Arial"/>
              </a:rPr>
              <a:t>Control-group switch: </a:t>
            </a:r>
            <a:r>
              <a:rPr sz="1700" b="0">
                <a:solidFill>
                  <a:srgbClr val="262B30"/>
                </a:solidFill>
                <a:latin typeface="Arial"/>
              </a:rPr>
              <a:t>a flag exists but is unused; hide points, missions, ranking and medals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1">
                <a:solidFill>
                  <a:srgbClr val="262B30"/>
                </a:solidFill>
                <a:latin typeface="Arial"/>
              </a:rPr>
              <a:t>Stamp rally and missions </a:t>
            </a:r>
            <a:r>
              <a:rPr sz="1700" b="0">
                <a:solidFill>
                  <a:srgbClr val="262B30"/>
                </a:solidFill>
                <a:latin typeface="Arial"/>
              </a:rPr>
              <a:t>at all 16 checkpoints; equal points everywhere (current 10 per check-in is fine)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1">
                <a:solidFill>
                  <a:srgbClr val="262B30"/>
                </a:solidFill>
                <a:latin typeface="Arial"/>
              </a:rPr>
              <a:t>Popular / less popular tag </a:t>
            </a:r>
            <a:r>
              <a:rPr sz="1700" b="0">
                <a:solidFill>
                  <a:srgbClr val="262B30"/>
                </a:solidFill>
                <a:latin typeface="Arial"/>
              </a:rPr>
              <a:t>on each spot, to count visits by type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1">
                <a:solidFill>
                  <a:srgbClr val="262B30"/>
                </a:solidFill>
                <a:latin typeface="Arial"/>
              </a:rPr>
              <a:t>Add the 16 checkpoints </a:t>
            </a:r>
            <a:r>
              <a:rPr sz="1700" b="0">
                <a:solidFill>
                  <a:srgbClr val="262B30"/>
                </a:solidFill>
                <a:latin typeface="Arial"/>
              </a:rPr>
              <a:t>to the server database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1">
                <a:solidFill>
                  <a:srgbClr val="262B30"/>
                </a:solidFill>
                <a:latin typeface="Arial"/>
              </a:rPr>
              <a:t>Tokyo survey text </a:t>
            </a:r>
            <a:r>
              <a:rPr sz="1700" b="0">
                <a:solidFill>
                  <a:srgbClr val="262B30"/>
                </a:solidFill>
                <a:latin typeface="Arial"/>
              </a:rPr>
              <a:t>in place of Yamanashi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and questions</a:t>
            </a:r>
            <a:endParaRPr/>
          </a:p>
        </p:txBody>
      </p:sp>
      <p:sp>
        <p:nvSpPr>
          <p:cNvPr id="53" name="Next steps card"/>
          <p:cNvSpPr/>
          <p:nvPr/>
        </p:nvSpPr>
        <p:spPr>
          <a:xfrm>
            <a:off x="900000" y="1380000"/>
            <a:ext cx="5650000" cy="54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80000" y="1610000"/>
            <a:ext cx="5090000" cy="5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Next steps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Finalise the spot list (decisions 1–4)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Count pedestrians at each checkpoint on one weekend to confirm crowding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Agree app changes with Le Laboratory</a:t>
            </a:r>
          </a:p>
          <a:p>
            <a:pPr algn="l" marL="228600" indent="-228600">
              <a:spcAft>
                <a:spcPts val="1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Build the post-survey and update the pre-survey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Timing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Weekend afternoons; all groups on the same days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Avoid Sanja Matsuri (May), Sumida fireworks (July), Tori-no-ichi (Nov), New Year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>
                <a:solidFill>
                  <a:srgbClr val="262B30"/>
                </a:solidFill>
                <a:latin typeface="Arial"/>
              </a:rPr>
              <a:t>Plan a rain date</a:t>
            </a:r>
          </a:p>
        </p:txBody>
      </p:sp>
      <p:sp>
        <p:nvSpPr>
          <p:cNvPr id="55" name="Questions card"/>
          <p:cNvSpPr/>
          <p:nvPr/>
        </p:nvSpPr>
        <p:spPr>
          <a:xfrm>
            <a:off x="6900000" y="1380000"/>
            <a:ext cx="5650000" cy="545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180000" y="1610000"/>
            <a:ext cx="5090000" cy="5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BCFDF"/>
                </a:solidFill>
                <a:latin typeface="Arial"/>
              </a:rPr>
              <a:t>Questions for you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1. Is 1.2 km or 1.5 km more suitable for our session length?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2. What sample size can we realistically recruit (26 or 64 per group)?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3. When should the experiment run?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4. Is excluding commercial spots the right rule, or should a few free-entry shops be allowed?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ユーザー定義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