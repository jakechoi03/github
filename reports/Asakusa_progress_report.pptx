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3" r:id="rId4"/>
  </p:sldMasterIdLst>
  <p:notesMasterIdLst>
    <p:notesMasterId r:id="rId5"/>
  </p:notesMasterIdLst>
  <p:sldIdLst>
    <p:sldId id="256" r:id="rId6"/>
    <p:sldId id="257" r:id="rId7"/>
    <p:sldId id="266" r:id="rId16"/>
    <p:sldId id="265" r:id="rId15"/>
    <p:sldId id="264" r:id="rId14"/>
    <p:sldId id="263" r:id="rId13"/>
    <p:sldId id="262" r:id="rId12"/>
    <p:sldId id="261" r:id="rId11"/>
    <p:sldId id="260" r:id="rId10"/>
    <p:sldId id="259" r:id="rId9"/>
    <p:sldId id="258" r:id="rId8"/>
  </p:sldIdLst>
  <p:sldSz cy="7562850" cx="13444525"/>
  <p:notesSz cx="10693400" cy="756285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880">
          <p15:clr>
            <a:srgbClr val="A4A3A4"/>
          </p15:clr>
        </p15:guide>
        <p15:guide id="2" pos="2716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880" orient="horz"/>
        <p:guide pos="2716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11.xml"/><Relationship Id="rId9" Type="http://schemas.openxmlformats.org/officeDocument/2006/relationships/slide" Target="slides/slide10.xml"/><Relationship Id="rId10" Type="http://schemas.openxmlformats.org/officeDocument/2006/relationships/slide" Target="slides/slide9.xml"/><Relationship Id="rId11" Type="http://schemas.openxmlformats.org/officeDocument/2006/relationships/slide" Target="slides/slide8.xml"/><Relationship Id="rId12" Type="http://schemas.openxmlformats.org/officeDocument/2006/relationships/slide" Target="slides/slide7.xml"/><Relationship Id="rId13" Type="http://schemas.openxmlformats.org/officeDocument/2006/relationships/slide" Target="slides/slide6.xml"/><Relationship Id="rId14" Type="http://schemas.openxmlformats.org/officeDocument/2006/relationships/slide" Target="slides/slide5.xml"/><Relationship Id="rId15" Type="http://schemas.openxmlformats.org/officeDocument/2006/relationships/slide" Target="slides/slide4.xml"/><Relationship Id="rId16" Type="http://schemas.openxmlformats.org/officeDocument/2006/relationships/slide" Target="slides/slide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4633913" cy="3794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6057900" y="0"/>
            <a:ext cx="4632325" cy="3794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3079750" y="946150"/>
            <a:ext cx="4533900" cy="2551113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1069975" y="3640138"/>
            <a:ext cx="8553450" cy="29781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7183438"/>
            <a:ext cx="4633913" cy="3794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6057900" y="7183438"/>
            <a:ext cx="4632325" cy="3794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n-US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1:notes"/>
          <p:cNvSpPr txBox="1"/>
          <p:nvPr>
            <p:ph idx="1" type="body"/>
          </p:nvPr>
        </p:nvSpPr>
        <p:spPr>
          <a:xfrm>
            <a:off x="1069975" y="3640138"/>
            <a:ext cx="8553450" cy="29781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Progress report on choosing the study area and the experiment checkpoints, and the decisions still open.</a:t>
            </a:r>
          </a:p>
        </p:txBody>
      </p:sp>
      <p:sp>
        <p:nvSpPr>
          <p:cNvPr id="42" name="Google Shape;42;p1:notes"/>
          <p:cNvSpPr/>
          <p:nvPr>
            <p:ph idx="2" type="sldImg"/>
          </p:nvPr>
        </p:nvSpPr>
        <p:spPr>
          <a:xfrm>
            <a:off x="3079750" y="946150"/>
            <a:ext cx="4533900" cy="2551113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2:notes"/>
          <p:cNvSpPr txBox="1"/>
          <p:nvPr>
            <p:ph idx="1" type="body"/>
          </p:nvPr>
        </p:nvSpPr>
        <p:spPr>
          <a:xfrm>
            <a:off x="1069975" y="3640138"/>
            <a:ext cx="8553450" cy="29781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49" name="Google Shape;49;p2:notes"/>
          <p:cNvSpPr/>
          <p:nvPr>
            <p:ph idx="2" type="sldImg"/>
          </p:nvPr>
        </p:nvSpPr>
        <p:spPr>
          <a:xfrm>
            <a:off x="3079750" y="946150"/>
            <a:ext cx="4533900" cy="2551113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closest prior work is Kawanaka et al. 2020. Our study differs mainly in framing, a control group, and a mixed Japanese and foreign sample.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obj">
  <p:cSld name="OBJECT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idx="11" type="ftr"/>
          </p:nvPr>
        </p:nvSpPr>
        <p:spPr>
          <a:xfrm>
            <a:off x="4571143" y="7033452"/>
            <a:ext cx="4302252" cy="27699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8" name="Google Shape;18;p2"/>
          <p:cNvSpPr txBox="1"/>
          <p:nvPr>
            <p:ph idx="10" type="dt"/>
          </p:nvPr>
        </p:nvSpPr>
        <p:spPr>
          <a:xfrm>
            <a:off x="672227" y="7033452"/>
            <a:ext cx="3092244" cy="27699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9" name="Google Shape;19;p2"/>
          <p:cNvSpPr txBox="1"/>
          <p:nvPr>
            <p:ph idx="12" type="sldNum"/>
          </p:nvPr>
        </p:nvSpPr>
        <p:spPr>
          <a:xfrm>
            <a:off x="12757940" y="7272945"/>
            <a:ext cx="601332" cy="27699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3"/>
          <p:cNvSpPr txBox="1"/>
          <p:nvPr>
            <p:ph type="ctrTitle"/>
          </p:nvPr>
        </p:nvSpPr>
        <p:spPr>
          <a:xfrm>
            <a:off x="1008342" y="2344485"/>
            <a:ext cx="11427857" cy="27699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2" name="Google Shape;22;p3"/>
          <p:cNvSpPr txBox="1"/>
          <p:nvPr>
            <p:ph idx="1" type="subTitle"/>
          </p:nvPr>
        </p:nvSpPr>
        <p:spPr>
          <a:xfrm>
            <a:off x="2016682" y="4235198"/>
            <a:ext cx="9411177" cy="27699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3"/>
          <p:cNvSpPr txBox="1"/>
          <p:nvPr>
            <p:ph idx="12" type="sldNum"/>
          </p:nvPr>
        </p:nvSpPr>
        <p:spPr>
          <a:xfrm>
            <a:off x="12757940" y="7272945"/>
            <a:ext cx="601332" cy="27699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>
  <p:cSld name="Title and Conten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4"/>
          <p:cNvSpPr txBox="1"/>
          <p:nvPr>
            <p:ph type="title"/>
          </p:nvPr>
        </p:nvSpPr>
        <p:spPr>
          <a:xfrm>
            <a:off x="878206" y="197151"/>
            <a:ext cx="10538474" cy="84107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6" name="Google Shape;26;p4"/>
          <p:cNvSpPr txBox="1"/>
          <p:nvPr>
            <p:ph idx="1" type="body"/>
          </p:nvPr>
        </p:nvSpPr>
        <p:spPr>
          <a:xfrm>
            <a:off x="672227" y="1739457"/>
            <a:ext cx="12100084" cy="27699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" name="Google Shape;27;p4"/>
          <p:cNvSpPr txBox="1"/>
          <p:nvPr>
            <p:ph idx="12" type="sldNum"/>
          </p:nvPr>
        </p:nvSpPr>
        <p:spPr>
          <a:xfrm>
            <a:off x="12757940" y="7272945"/>
            <a:ext cx="601332" cy="27699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>
  <p:cSld name="Two Conten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5"/>
          <p:cNvSpPr txBox="1"/>
          <p:nvPr>
            <p:ph type="title"/>
          </p:nvPr>
        </p:nvSpPr>
        <p:spPr>
          <a:xfrm>
            <a:off x="-68562" y="-10220"/>
            <a:ext cx="12100084" cy="27699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0" name="Google Shape;30;p5"/>
          <p:cNvSpPr txBox="1"/>
          <p:nvPr>
            <p:ph idx="1" type="body"/>
          </p:nvPr>
        </p:nvSpPr>
        <p:spPr>
          <a:xfrm>
            <a:off x="672229" y="1739458"/>
            <a:ext cx="5848374" cy="27699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5"/>
          <p:cNvSpPr txBox="1"/>
          <p:nvPr>
            <p:ph idx="2" type="body"/>
          </p:nvPr>
        </p:nvSpPr>
        <p:spPr>
          <a:xfrm>
            <a:off x="6923939" y="1739458"/>
            <a:ext cx="5848374" cy="27699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11" type="ftr"/>
          </p:nvPr>
        </p:nvSpPr>
        <p:spPr>
          <a:xfrm>
            <a:off x="4571143" y="7033452"/>
            <a:ext cx="4302252" cy="27699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3" name="Google Shape;33;p5"/>
          <p:cNvSpPr txBox="1"/>
          <p:nvPr>
            <p:ph idx="10" type="dt"/>
          </p:nvPr>
        </p:nvSpPr>
        <p:spPr>
          <a:xfrm>
            <a:off x="672227" y="7033452"/>
            <a:ext cx="3092244" cy="27699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4" name="Google Shape;34;p5"/>
          <p:cNvSpPr txBox="1"/>
          <p:nvPr>
            <p:ph idx="12" type="sldNum"/>
          </p:nvPr>
        </p:nvSpPr>
        <p:spPr>
          <a:xfrm>
            <a:off x="12757940" y="7272945"/>
            <a:ext cx="601332" cy="27699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Title Only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6"/>
          <p:cNvSpPr txBox="1"/>
          <p:nvPr>
            <p:ph type="title"/>
          </p:nvPr>
        </p:nvSpPr>
        <p:spPr>
          <a:xfrm>
            <a:off x="-68562" y="-10220"/>
            <a:ext cx="12100084" cy="27699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7" name="Google Shape;37;p6"/>
          <p:cNvSpPr txBox="1"/>
          <p:nvPr>
            <p:ph idx="11" type="ftr"/>
          </p:nvPr>
        </p:nvSpPr>
        <p:spPr>
          <a:xfrm>
            <a:off x="4571143" y="7033452"/>
            <a:ext cx="4302252" cy="27699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8" name="Google Shape;38;p6"/>
          <p:cNvSpPr txBox="1"/>
          <p:nvPr>
            <p:ph idx="10" type="dt"/>
          </p:nvPr>
        </p:nvSpPr>
        <p:spPr>
          <a:xfrm>
            <a:off x="672227" y="7033452"/>
            <a:ext cx="3092244" cy="27699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9" name="Google Shape;39;p6"/>
          <p:cNvSpPr txBox="1"/>
          <p:nvPr>
            <p:ph idx="12" type="sldNum"/>
          </p:nvPr>
        </p:nvSpPr>
        <p:spPr>
          <a:xfrm>
            <a:off x="12757940" y="7272945"/>
            <a:ext cx="601332" cy="27699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/>
          <p:nvPr/>
        </p:nvSpPr>
        <p:spPr>
          <a:xfrm>
            <a:off x="858550" y="1095514"/>
            <a:ext cx="5863224" cy="32384"/>
          </a:xfrm>
          <a:custGeom>
            <a:rect b="b" l="l" r="r" t="t"/>
            <a:pathLst>
              <a:path extrusionOk="0" h="32384" w="4663440">
                <a:moveTo>
                  <a:pt x="4662982" y="0"/>
                </a:moveTo>
                <a:lnTo>
                  <a:pt x="0" y="0"/>
                </a:lnTo>
                <a:lnTo>
                  <a:pt x="0" y="32042"/>
                </a:lnTo>
                <a:lnTo>
                  <a:pt x="4662982" y="32042"/>
                </a:lnTo>
                <a:lnTo>
                  <a:pt x="4662982" y="0"/>
                </a:lnTo>
                <a:close/>
              </a:path>
            </a:pathLst>
          </a:custGeom>
          <a:solidFill>
            <a:srgbClr val="7BCFDF"/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" name="Google Shape;11;p1"/>
          <p:cNvSpPr/>
          <p:nvPr/>
        </p:nvSpPr>
        <p:spPr>
          <a:xfrm>
            <a:off x="6721581" y="1095514"/>
            <a:ext cx="5863224" cy="32384"/>
          </a:xfrm>
          <a:custGeom>
            <a:rect b="b" l="l" r="r" t="t"/>
            <a:pathLst>
              <a:path extrusionOk="0" h="32384" w="4663440">
                <a:moveTo>
                  <a:pt x="4662982" y="0"/>
                </a:moveTo>
                <a:lnTo>
                  <a:pt x="0" y="0"/>
                </a:lnTo>
                <a:lnTo>
                  <a:pt x="0" y="32042"/>
                </a:lnTo>
                <a:lnTo>
                  <a:pt x="4662982" y="32042"/>
                </a:lnTo>
                <a:lnTo>
                  <a:pt x="4662982" y="0"/>
                </a:lnTo>
                <a:close/>
              </a:path>
            </a:pathLst>
          </a:custGeom>
          <a:solidFill>
            <a:srgbClr val="0F2F46"/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" name="Google Shape;12;p1"/>
          <p:cNvSpPr txBox="1"/>
          <p:nvPr>
            <p:ph idx="1" type="body"/>
          </p:nvPr>
        </p:nvSpPr>
        <p:spPr>
          <a:xfrm>
            <a:off x="672227" y="1739458"/>
            <a:ext cx="12100084" cy="27699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" name="Google Shape;13;p1"/>
          <p:cNvSpPr/>
          <p:nvPr/>
        </p:nvSpPr>
        <p:spPr>
          <a:xfrm>
            <a:off x="0" y="7303004"/>
            <a:ext cx="13444538" cy="259847"/>
          </a:xfrm>
          <a:prstGeom prst="rect">
            <a:avLst/>
          </a:prstGeom>
          <a:solidFill>
            <a:srgbClr val="7BCFD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" name="Google Shape;14;p1"/>
          <p:cNvSpPr/>
          <p:nvPr/>
        </p:nvSpPr>
        <p:spPr>
          <a:xfrm>
            <a:off x="-688" y="7257285"/>
            <a:ext cx="13444538" cy="45719"/>
          </a:xfrm>
          <a:prstGeom prst="rect">
            <a:avLst/>
          </a:prstGeom>
          <a:solidFill>
            <a:srgbClr val="0F2F4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テキスト&#10;&#10;中程度の精度で自動的に生成された説明" id="15" name="Google Shape;15;p1"/>
          <p:cNvPicPr preferRelativeResize="0"/>
          <p:nvPr/>
        </p:nvPicPr>
        <p:blipFill rotWithShape="1">
          <a:blip r:embed="rId1">
            <a:alphaModFix/>
          </a:blip>
          <a:srcRect b="8768" l="8613" r="72193" t="11999"/>
          <a:stretch/>
        </p:blipFill>
        <p:spPr>
          <a:xfrm>
            <a:off x="11432538" y="100965"/>
            <a:ext cx="1147165" cy="971689"/>
          </a:xfrm>
          <a:prstGeom prst="rect">
            <a:avLst/>
          </a:prstGeom>
          <a:noFill/>
          <a:ln>
            <a:noFill/>
          </a:ln>
        </p:spPr>
      </p:pic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2"/>
    <p:sldLayoutId id="2147483649" r:id="rId3"/>
    <p:sldLayoutId id="2147483650" r:id="rId4"/>
    <p:sldLayoutId id="2147483651" r:id="rId5"/>
    <p:sldLayoutId id="2147483652" r:id="rId6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Sp="0">
  <p:cSld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テキスト&#10;&#10;中程度の精度で自動的に生成された説明" id="44" name="Google Shape;44;p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069" y="6397404"/>
            <a:ext cx="5679597" cy="1165446"/>
          </a:xfrm>
          <a:prstGeom prst="rect">
            <a:avLst/>
          </a:prstGeom>
          <a:noFill/>
          <a:ln>
            <a:noFill/>
          </a:ln>
        </p:spPr>
      </p:pic>
      <p:sp>
        <p:nvSpPr>
          <p:cNvPr id="45" name="Google Shape;45;p7"/>
          <p:cNvSpPr/>
          <p:nvPr/>
        </p:nvSpPr>
        <p:spPr>
          <a:xfrm rot="10800000">
            <a:off x="-815" y="-11161"/>
            <a:ext cx="13445353" cy="4547234"/>
          </a:xfrm>
          <a:custGeom>
            <a:rect b="b" l="l" r="r" t="t"/>
            <a:pathLst>
              <a:path extrusionOk="0" h="4547234" w="10692130">
                <a:moveTo>
                  <a:pt x="10692003" y="0"/>
                </a:moveTo>
                <a:lnTo>
                  <a:pt x="4137825" y="0"/>
                </a:lnTo>
                <a:lnTo>
                  <a:pt x="4088705" y="1082"/>
                </a:lnTo>
                <a:lnTo>
                  <a:pt x="4039875" y="4311"/>
                </a:lnTo>
                <a:lnTo>
                  <a:pt x="3991396" y="9660"/>
                </a:lnTo>
                <a:lnTo>
                  <a:pt x="3943335" y="17103"/>
                </a:lnTo>
                <a:lnTo>
                  <a:pt x="3895754" y="26613"/>
                </a:lnTo>
                <a:lnTo>
                  <a:pt x="3848718" y="38164"/>
                </a:lnTo>
                <a:lnTo>
                  <a:pt x="3802291" y="51729"/>
                </a:lnTo>
                <a:lnTo>
                  <a:pt x="3756537" y="67281"/>
                </a:lnTo>
                <a:lnTo>
                  <a:pt x="3711521" y="84794"/>
                </a:lnTo>
                <a:lnTo>
                  <a:pt x="3667305" y="104242"/>
                </a:lnTo>
                <a:lnTo>
                  <a:pt x="3623955" y="125597"/>
                </a:lnTo>
                <a:lnTo>
                  <a:pt x="3581534" y="148834"/>
                </a:lnTo>
                <a:lnTo>
                  <a:pt x="3540108" y="173926"/>
                </a:lnTo>
                <a:lnTo>
                  <a:pt x="3499738" y="200845"/>
                </a:lnTo>
                <a:lnTo>
                  <a:pt x="3460491" y="229567"/>
                </a:lnTo>
                <a:lnTo>
                  <a:pt x="3422429" y="260063"/>
                </a:lnTo>
                <a:lnTo>
                  <a:pt x="3385617" y="292308"/>
                </a:lnTo>
                <a:lnTo>
                  <a:pt x="3314622" y="360242"/>
                </a:lnTo>
                <a:lnTo>
                  <a:pt x="3277810" y="392488"/>
                </a:lnTo>
                <a:lnTo>
                  <a:pt x="3239748" y="422985"/>
                </a:lnTo>
                <a:lnTo>
                  <a:pt x="3200500" y="451707"/>
                </a:lnTo>
                <a:lnTo>
                  <a:pt x="3160130" y="478627"/>
                </a:lnTo>
                <a:lnTo>
                  <a:pt x="3118702" y="503720"/>
                </a:lnTo>
                <a:lnTo>
                  <a:pt x="3076280" y="526957"/>
                </a:lnTo>
                <a:lnTo>
                  <a:pt x="3032929" y="548314"/>
                </a:lnTo>
                <a:lnTo>
                  <a:pt x="2988713" y="567763"/>
                </a:lnTo>
                <a:lnTo>
                  <a:pt x="2943695" y="585277"/>
                </a:lnTo>
                <a:lnTo>
                  <a:pt x="2897940" y="600830"/>
                </a:lnTo>
                <a:lnTo>
                  <a:pt x="2851512" y="614396"/>
                </a:lnTo>
                <a:lnTo>
                  <a:pt x="2804475" y="625947"/>
                </a:lnTo>
                <a:lnTo>
                  <a:pt x="2756894" y="635458"/>
                </a:lnTo>
                <a:lnTo>
                  <a:pt x="2708832" y="642902"/>
                </a:lnTo>
                <a:lnTo>
                  <a:pt x="2660353" y="648252"/>
                </a:lnTo>
                <a:lnTo>
                  <a:pt x="2611522" y="651481"/>
                </a:lnTo>
                <a:lnTo>
                  <a:pt x="2562402" y="652564"/>
                </a:lnTo>
                <a:lnTo>
                  <a:pt x="0" y="652564"/>
                </a:lnTo>
                <a:lnTo>
                  <a:pt x="0" y="4546638"/>
                </a:lnTo>
                <a:lnTo>
                  <a:pt x="10692003" y="4546638"/>
                </a:lnTo>
                <a:lnTo>
                  <a:pt x="10692003" y="0"/>
                </a:lnTo>
                <a:close/>
              </a:path>
            </a:pathLst>
          </a:custGeom>
          <a:solidFill>
            <a:srgbClr val="7BCFDF"/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" name="Google Shape;46;p7"/>
          <p:cNvSpPr txBox="1"/>
          <p:nvPr>
            <p:ph idx="12" type="sldNum"/>
          </p:nvPr>
        </p:nvSpPr>
        <p:spPr>
          <a:xfrm>
            <a:off x="9074817" y="7033452"/>
            <a:ext cx="2459482" cy="27699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7" name="Cover title"/>
          <p:cNvSpPr txBox="1"/>
          <p:nvPr/>
        </p:nvSpPr>
        <p:spPr>
          <a:xfrm>
            <a:off x="900000" y="1250000"/>
            <a:ext cx="11200000" cy="15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600" b="1">
                <a:solidFill>
                  <a:srgbClr val="0F2F46"/>
                </a:solidFill>
                <a:latin typeface="Arial"/>
              </a:rPr>
              <a:t>Spot Selection for a Gamified Tourism Experiment in Asakusa</a:t>
            </a:r>
          </a:p>
        </p:txBody>
      </p:sp>
      <p:sp>
        <p:nvSpPr>
          <p:cNvPr id="48" name="Cover subtitle"/>
          <p:cNvSpPr txBox="1"/>
          <p:nvPr/>
        </p:nvSpPr>
        <p:spPr>
          <a:xfrm>
            <a:off x="900000" y="2900000"/>
            <a:ext cx="11200000" cy="6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>
                <a:solidFill>
                  <a:srgbClr val="0F2F46"/>
                </a:solidFill>
                <a:latin typeface="Arial"/>
              </a:rPr>
              <a:t>Progress report: study area, checkpoints and open decisions</a:t>
            </a:r>
          </a:p>
        </p:txBody>
      </p:sp>
      <p:sp>
        <p:nvSpPr>
          <p:cNvPr id="49" name="Cover byline"/>
          <p:cNvSpPr txBox="1"/>
          <p:nvPr/>
        </p:nvSpPr>
        <p:spPr>
          <a:xfrm>
            <a:off x="900000" y="4950000"/>
            <a:ext cx="11200000" cy="9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0F2F46"/>
                </a:solidFill>
                <a:latin typeface="Arial"/>
              </a:rPr>
              <a:t>HyoSeok (Jake) Choi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5A646E"/>
                </a:solidFill>
                <a:latin typeface="Arial"/>
              </a:rPr>
              <a:t>13 October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8"/>
          <p:cNvSpPr txBox="1"/>
          <p:nvPr>
            <p:ph idx="12" type="sldNum"/>
          </p:nvPr>
        </p:nvSpPr>
        <p:spPr>
          <a:xfrm>
            <a:off x="9074817" y="7033452"/>
            <a:ext cx="2459482" cy="27699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52" name="Google Shape;52;p8"/>
          <p:cNvSpPr txBox="1"/>
          <p:nvPr/>
        </p:nvSpPr>
        <p:spPr>
          <a:xfrm>
            <a:off x="898635" y="409903"/>
            <a:ext cx="9800000" cy="5847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Table of contents</a:t>
            </a:r>
            <a:endParaRPr/>
          </a:p>
        </p:txBody>
      </p:sp>
      <p:sp>
        <p:nvSpPr>
          <p:cNvPr id="53" name="TOC number 1"/>
          <p:cNvSpPr/>
          <p:nvPr/>
        </p:nvSpPr>
        <p:spPr>
          <a:xfrm>
            <a:off x="900000" y="1500000"/>
            <a:ext cx="520000" cy="520000"/>
          </a:xfrm>
          <a:prstGeom prst="ellipse">
            <a:avLst/>
          </a:prstGeom>
          <a:solidFill>
            <a:srgbClr val="7BCF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900000" y="1500000"/>
            <a:ext cx="520000" cy="52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0F2F46"/>
                </a:solidFill>
                <a:latin typeface="Arial"/>
              </a:rPr>
              <a:t>1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650000" y="1500000"/>
            <a:ext cx="9000000" cy="52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262B30"/>
                </a:solidFill>
                <a:latin typeface="Arial"/>
              </a:rPr>
              <a:t>Background and research goal</a:t>
            </a:r>
          </a:p>
        </p:txBody>
      </p:sp>
      <p:sp>
        <p:nvSpPr>
          <p:cNvPr id="56" name="TOC number 2"/>
          <p:cNvSpPr/>
          <p:nvPr/>
        </p:nvSpPr>
        <p:spPr>
          <a:xfrm>
            <a:off x="900000" y="2140000"/>
            <a:ext cx="520000" cy="520000"/>
          </a:xfrm>
          <a:prstGeom prst="ellipse">
            <a:avLst/>
          </a:prstGeom>
          <a:solidFill>
            <a:srgbClr val="0F2F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7" name="TextBox 56"/>
          <p:cNvSpPr txBox="1"/>
          <p:nvPr/>
        </p:nvSpPr>
        <p:spPr>
          <a:xfrm>
            <a:off x="900000" y="2140000"/>
            <a:ext cx="520000" cy="52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650000" y="2140000"/>
            <a:ext cx="9000000" cy="52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262B30"/>
                </a:solidFill>
                <a:latin typeface="Arial"/>
              </a:rPr>
              <a:t>Study area: why Asakusa</a:t>
            </a:r>
          </a:p>
        </p:txBody>
      </p:sp>
      <p:sp>
        <p:nvSpPr>
          <p:cNvPr id="59" name="TOC number 3"/>
          <p:cNvSpPr/>
          <p:nvPr/>
        </p:nvSpPr>
        <p:spPr>
          <a:xfrm>
            <a:off x="900000" y="2780000"/>
            <a:ext cx="520000" cy="520000"/>
          </a:xfrm>
          <a:prstGeom prst="ellipse">
            <a:avLst/>
          </a:prstGeom>
          <a:solidFill>
            <a:srgbClr val="7BCF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0" name="TextBox 59"/>
          <p:cNvSpPr txBox="1"/>
          <p:nvPr/>
        </p:nvSpPr>
        <p:spPr>
          <a:xfrm>
            <a:off x="900000" y="2780000"/>
            <a:ext cx="520000" cy="52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0F2F46"/>
                </a:solidFill>
                <a:latin typeface="Arial"/>
              </a:rPr>
              <a:t>3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650000" y="2780000"/>
            <a:ext cx="9000000" cy="52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262B30"/>
                </a:solidFill>
                <a:latin typeface="Arial"/>
              </a:rPr>
              <a:t>Spot selection method</a:t>
            </a:r>
          </a:p>
        </p:txBody>
      </p:sp>
      <p:sp>
        <p:nvSpPr>
          <p:cNvPr id="62" name="TOC number 4"/>
          <p:cNvSpPr/>
          <p:nvPr/>
        </p:nvSpPr>
        <p:spPr>
          <a:xfrm>
            <a:off x="900000" y="3420000"/>
            <a:ext cx="520000" cy="520000"/>
          </a:xfrm>
          <a:prstGeom prst="ellipse">
            <a:avLst/>
          </a:prstGeom>
          <a:solidFill>
            <a:srgbClr val="0F2F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3" name="TextBox 62"/>
          <p:cNvSpPr txBox="1"/>
          <p:nvPr/>
        </p:nvSpPr>
        <p:spPr>
          <a:xfrm>
            <a:off x="900000" y="3420000"/>
            <a:ext cx="520000" cy="52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650000" y="3420000"/>
            <a:ext cx="9000000" cy="52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262B30"/>
                </a:solidFill>
                <a:latin typeface="Arial"/>
              </a:rPr>
              <a:t>Selected checkpoints</a:t>
            </a:r>
          </a:p>
        </p:txBody>
      </p:sp>
      <p:sp>
        <p:nvSpPr>
          <p:cNvPr id="65" name="TOC number 5"/>
          <p:cNvSpPr/>
          <p:nvPr/>
        </p:nvSpPr>
        <p:spPr>
          <a:xfrm>
            <a:off x="900000" y="4060000"/>
            <a:ext cx="520000" cy="520000"/>
          </a:xfrm>
          <a:prstGeom prst="ellipse">
            <a:avLst/>
          </a:prstGeom>
          <a:solidFill>
            <a:srgbClr val="7BCF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6" name="TextBox 65"/>
          <p:cNvSpPr txBox="1"/>
          <p:nvPr/>
        </p:nvSpPr>
        <p:spPr>
          <a:xfrm>
            <a:off x="900000" y="4060000"/>
            <a:ext cx="520000" cy="52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0F2F46"/>
                </a:solidFill>
                <a:latin typeface="Arial"/>
              </a:rPr>
              <a:t>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650000" y="4060000"/>
            <a:ext cx="9000000" cy="52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262B30"/>
                </a:solidFill>
                <a:latin typeface="Arial"/>
              </a:rPr>
              <a:t>Open decisions on the spot list</a:t>
            </a:r>
          </a:p>
        </p:txBody>
      </p:sp>
      <p:sp>
        <p:nvSpPr>
          <p:cNvPr id="68" name="TOC number 6"/>
          <p:cNvSpPr/>
          <p:nvPr/>
        </p:nvSpPr>
        <p:spPr>
          <a:xfrm>
            <a:off x="900000" y="4700000"/>
            <a:ext cx="520000" cy="520000"/>
          </a:xfrm>
          <a:prstGeom prst="ellipse">
            <a:avLst/>
          </a:prstGeom>
          <a:solidFill>
            <a:srgbClr val="0F2F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9" name="TextBox 68"/>
          <p:cNvSpPr txBox="1"/>
          <p:nvPr/>
        </p:nvSpPr>
        <p:spPr>
          <a:xfrm>
            <a:off x="900000" y="4700000"/>
            <a:ext cx="520000" cy="52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650000" y="4700000"/>
            <a:ext cx="9000000" cy="52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262B30"/>
                </a:solidFill>
                <a:latin typeface="Arial"/>
              </a:rPr>
              <a:t>Experiment design</a:t>
            </a:r>
          </a:p>
        </p:txBody>
      </p:sp>
      <p:sp>
        <p:nvSpPr>
          <p:cNvPr id="71" name="TOC number 7"/>
          <p:cNvSpPr/>
          <p:nvPr/>
        </p:nvSpPr>
        <p:spPr>
          <a:xfrm>
            <a:off x="900000" y="5340000"/>
            <a:ext cx="520000" cy="520000"/>
          </a:xfrm>
          <a:prstGeom prst="ellipse">
            <a:avLst/>
          </a:prstGeom>
          <a:solidFill>
            <a:srgbClr val="7BCF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2" name="TextBox 71"/>
          <p:cNvSpPr txBox="1"/>
          <p:nvPr/>
        </p:nvSpPr>
        <p:spPr>
          <a:xfrm>
            <a:off x="900000" y="5340000"/>
            <a:ext cx="520000" cy="52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0F2F46"/>
                </a:solidFill>
                <a:latin typeface="Arial"/>
              </a:rPr>
              <a:t>7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650000" y="5340000"/>
            <a:ext cx="9000000" cy="52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262B30"/>
                </a:solidFill>
                <a:latin typeface="Arial"/>
              </a:rPr>
              <a:t>Surveys and app changes</a:t>
            </a:r>
          </a:p>
        </p:txBody>
      </p:sp>
      <p:sp>
        <p:nvSpPr>
          <p:cNvPr id="74" name="TOC number 8"/>
          <p:cNvSpPr/>
          <p:nvPr/>
        </p:nvSpPr>
        <p:spPr>
          <a:xfrm>
            <a:off x="900000" y="5980000"/>
            <a:ext cx="520000" cy="520000"/>
          </a:xfrm>
          <a:prstGeom prst="ellipse">
            <a:avLst/>
          </a:prstGeom>
          <a:solidFill>
            <a:srgbClr val="0F2F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5" name="TextBox 74"/>
          <p:cNvSpPr txBox="1"/>
          <p:nvPr/>
        </p:nvSpPr>
        <p:spPr>
          <a:xfrm>
            <a:off x="900000" y="5980000"/>
            <a:ext cx="520000" cy="52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8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650000" y="5980000"/>
            <a:ext cx="9000000" cy="52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262B30"/>
                </a:solidFill>
                <a:latin typeface="Arial"/>
              </a:rPr>
              <a:t>Next steps and questions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8"/>
          <p:cNvSpPr txBox="1"/>
          <p:nvPr>
            <p:ph idx="12" type="sldNum"/>
          </p:nvPr>
        </p:nvSpPr>
        <p:spPr>
          <a:xfrm>
            <a:off x="9074817" y="7033452"/>
            <a:ext cx="2459482" cy="27699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52" name="Google Shape;52;p8"/>
          <p:cNvSpPr txBox="1"/>
          <p:nvPr/>
        </p:nvSpPr>
        <p:spPr>
          <a:xfrm>
            <a:off x="898635" y="409903"/>
            <a:ext cx="9800000" cy="5847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Background and research goal</a:t>
            </a:r>
            <a:endParaRPr/>
          </a:p>
        </p:txBody>
      </p:sp>
      <p:sp>
        <p:nvSpPr>
          <p:cNvPr id="53" name="Research question card"/>
          <p:cNvSpPr/>
          <p:nvPr/>
        </p:nvSpPr>
        <p:spPr>
          <a:xfrm>
            <a:off x="900000" y="1380000"/>
            <a:ext cx="5300000" cy="2350000"/>
          </a:xfrm>
          <a:prstGeom prst="roundRect">
            <a:avLst>
              <a:gd name="adj" fmla="val 6000"/>
            </a:avLst>
          </a:prstGeom>
          <a:solidFill>
            <a:srgbClr val="0F2F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1180000" y="1610000"/>
            <a:ext cx="4750000" cy="19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7BCFDF"/>
                </a:solidFill>
                <a:latin typeface="Arial"/>
              </a:rPr>
              <a:t>Research question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FFFFFF"/>
                </a:solidFill>
                <a:latin typeface="Arial"/>
              </a:rPr>
              <a:t>Can gamification and incentives in a tourism app move visitors from crowded famous spots to less popular spots nearby?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00000" y="3980000"/>
            <a:ext cx="5300000" cy="28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0F2F46"/>
                </a:solidFill>
                <a:latin typeface="Arial"/>
              </a:rPr>
              <a:t>Reference study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5A646E"/>
                </a:solidFill>
                <a:latin typeface="Arial"/>
              </a:rPr>
              <a:t>Kawanaka et al. (2020), Smart Cities 3, 736-757</a:t>
            </a:r>
          </a:p>
          <a:p>
            <a:pPr algn="l" marL="228600" indent="-228600">
              <a:spcAft>
                <a:spcPts val="600"/>
              </a:spcAft>
              <a:buChar char="•"/>
            </a:pPr>
            <a:r>
              <a:rPr sz="1600" b="0">
                <a:solidFill>
                  <a:srgbClr val="262B30"/>
                </a:solidFill>
                <a:latin typeface="Arial"/>
              </a:rPr>
              <a:t>Kyoto, 33 students, 3 reward schemes</a:t>
            </a:r>
          </a:p>
          <a:p>
            <a:pPr algn="l" marL="228600" indent="-228600">
              <a:spcAft>
                <a:spcPts val="600"/>
              </a:spcAft>
              <a:buChar char="•"/>
            </a:pPr>
            <a:r>
              <a:rPr sz="1600" b="0">
                <a:solidFill>
                  <a:srgbClr val="262B30"/>
                </a:solidFill>
                <a:latin typeface="Arial"/>
              </a:rPr>
              <a:t>Higher points at lesser-known spots changed routes and stay time</a:t>
            </a:r>
          </a:p>
          <a:p>
            <a:pPr algn="l" marL="228600" indent="-228600">
              <a:spcAft>
                <a:spcPts val="600"/>
              </a:spcAft>
              <a:buChar char="•"/>
            </a:pPr>
            <a:r>
              <a:rPr sz="1600" b="0">
                <a:solidFill>
                  <a:srgbClr val="262B30"/>
                </a:solidFill>
                <a:latin typeface="Arial"/>
              </a:rPr>
              <a:t>Check-in missions lowered sightseeing enjoyment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550000" y="1380000"/>
            <a:ext cx="6000000" cy="4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0F2F46"/>
                </a:solidFill>
                <a:latin typeface="Arial"/>
              </a:rPr>
              <a:t>What this study adds</a:t>
            </a:r>
          </a:p>
        </p:txBody>
      </p:sp>
      <p:graphicFrame>
        <p:nvGraphicFramePr>
          <p:cNvPr id="57" name="Table 56"/>
          <p:cNvGraphicFramePr>
            <a:graphicFrameLocks noGrp="1"/>
          </p:cNvGraphicFramePr>
          <p:nvPr/>
        </p:nvGraphicFramePr>
        <p:xfrm>
          <a:off x="6550000" y="1860000"/>
          <a:ext cx="6000000" cy="3360000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1620000"/>
                <a:gridCol w="2160000"/>
                <a:gridCol w="2220000"/>
              </a:tblGrid>
              <a:tr h="560000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0000" marR="70000" marT="30000" marB="30000" anchor="ctr">
                    <a:solidFill>
                      <a:srgbClr val="0F2F4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Kawanaka et al. (2020)</a:t>
                      </a:r>
                    </a:p>
                  </a:txBody>
                  <a:tcPr marL="70000" marR="70000" marT="30000" marB="30000" anchor="ctr">
                    <a:solidFill>
                      <a:srgbClr val="0F2F4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This study</a:t>
                      </a:r>
                    </a:p>
                  </a:txBody>
                  <a:tcPr marL="70000" marR="70000" marT="30000" marB="30000" anchor="ctr">
                    <a:solidFill>
                      <a:srgbClr val="0F2F46"/>
                    </a:solidFill>
                  </a:tcPr>
                </a:tc>
              </a:tr>
              <a:tr h="560000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62B30"/>
                          </a:solidFill>
                          <a:latin typeface="Arial"/>
                        </a:rPr>
                        <a:t>Framing</a:t>
                      </a:r>
                    </a:p>
                  </a:txBody>
                  <a:tcPr marL="70000" marR="70000" marT="30000" marB="3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62B30"/>
                          </a:solidFill>
                          <a:latin typeface="Arial"/>
                        </a:rPr>
                        <a:t>Collecting tourism data</a:t>
                      </a:r>
                    </a:p>
                  </a:txBody>
                  <a:tcPr marL="70000" marR="70000" marT="30000" marB="3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62B30"/>
                          </a:solidFill>
                          <a:latin typeface="Arial"/>
                        </a:rPr>
                        <a:t>Reducing overtourism</a:t>
                      </a:r>
                    </a:p>
                  </a:txBody>
                  <a:tcPr marL="70000" marR="70000" marT="30000" marB="30000" anchor="ctr">
                    <a:solidFill>
                      <a:srgbClr val="FFFFFF"/>
                    </a:solidFill>
                  </a:tcPr>
                </a:tc>
              </a:tr>
              <a:tr h="560000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62B30"/>
                          </a:solidFill>
                          <a:latin typeface="Arial"/>
                        </a:rPr>
                        <a:t>Control group</a:t>
                      </a:r>
                    </a:p>
                  </a:txBody>
                  <a:tcPr marL="70000" marR="70000" marT="30000" marB="30000" anchor="ctr">
                    <a:solidFill>
                      <a:srgbClr val="E9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62B30"/>
                          </a:solidFill>
                          <a:latin typeface="Arial"/>
                        </a:rPr>
                        <a:t>None</a:t>
                      </a:r>
                    </a:p>
                  </a:txBody>
                  <a:tcPr marL="70000" marR="70000" marT="30000" marB="30000" anchor="ctr">
                    <a:solidFill>
                      <a:srgbClr val="E9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62B30"/>
                          </a:solidFill>
                          <a:latin typeface="Arial"/>
                        </a:rPr>
                        <a:t>Yes (no gamification)</a:t>
                      </a:r>
                    </a:p>
                  </a:txBody>
                  <a:tcPr marL="70000" marR="70000" marT="30000" marB="30000" anchor="ctr">
                    <a:solidFill>
                      <a:srgbClr val="E9F6F9"/>
                    </a:solidFill>
                  </a:tcPr>
                </a:tc>
              </a:tr>
              <a:tr h="560000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62B30"/>
                          </a:solidFill>
                          <a:latin typeface="Arial"/>
                        </a:rPr>
                        <a:t>Participants</a:t>
                      </a:r>
                    </a:p>
                  </a:txBody>
                  <a:tcPr marL="70000" marR="70000" marT="30000" marB="3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62B30"/>
                          </a:solidFill>
                          <a:latin typeface="Arial"/>
                        </a:rPr>
                        <a:t>33 students, mostly Japanese</a:t>
                      </a:r>
                    </a:p>
                  </a:txBody>
                  <a:tcPr marL="70000" marR="70000" marT="30000" marB="3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62B30"/>
                          </a:solidFill>
                          <a:latin typeface="Arial"/>
                        </a:rPr>
                        <a:t>Japanese and foreign tourists</a:t>
                      </a:r>
                    </a:p>
                  </a:txBody>
                  <a:tcPr marL="70000" marR="70000" marT="30000" marB="30000" anchor="ctr">
                    <a:solidFill>
                      <a:srgbClr val="FFFFFF"/>
                    </a:solidFill>
                  </a:tcPr>
                </a:tc>
              </a:tr>
              <a:tr h="560000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62B30"/>
                          </a:solidFill>
                          <a:latin typeface="Arial"/>
                        </a:rPr>
                        <a:t>Comparison</a:t>
                      </a:r>
                    </a:p>
                  </a:txBody>
                  <a:tcPr marL="70000" marR="70000" marT="30000" marB="30000" anchor="ctr">
                    <a:solidFill>
                      <a:srgbClr val="E9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62B30"/>
                          </a:solidFill>
                          <a:latin typeface="Arial"/>
                        </a:rPr>
                        <a:t>User motivation type</a:t>
                      </a:r>
                    </a:p>
                  </a:txBody>
                  <a:tcPr marL="70000" marR="70000" marT="30000" marB="30000" anchor="ctr">
                    <a:solidFill>
                      <a:srgbClr val="E9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62B30"/>
                          </a:solidFill>
                          <a:latin typeface="Arial"/>
                        </a:rPr>
                        <a:t>Nationality and region</a:t>
                      </a:r>
                    </a:p>
                  </a:txBody>
                  <a:tcPr marL="70000" marR="70000" marT="30000" marB="30000" anchor="ctr">
                    <a:solidFill>
                      <a:srgbClr val="E9F6F9"/>
                    </a:solidFill>
                  </a:tcPr>
                </a:tc>
              </a:tr>
              <a:tr h="560000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62B30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70000" marR="70000" marT="30000" marB="3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62B30"/>
                          </a:solidFill>
                          <a:latin typeface="Arial"/>
                        </a:rPr>
                        <a:t>Kyoto (Higashiyama)</a:t>
                      </a:r>
                    </a:p>
                  </a:txBody>
                  <a:tcPr marL="70000" marR="70000" marT="30000" marB="3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62B30"/>
                          </a:solidFill>
                          <a:latin typeface="Arial"/>
                        </a:rPr>
                        <a:t>Tokyo (Asakusa)</a:t>
                      </a:r>
                    </a:p>
                  </a:txBody>
                  <a:tcPr marL="70000" marR="70000" marT="30000" marB="300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8"/>
          <p:cNvSpPr txBox="1"/>
          <p:nvPr>
            <p:ph idx="12" type="sldNum"/>
          </p:nvPr>
        </p:nvSpPr>
        <p:spPr>
          <a:xfrm>
            <a:off x="9074817" y="7033452"/>
            <a:ext cx="2459482" cy="27699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52" name="Google Shape;52;p8"/>
          <p:cNvSpPr txBox="1"/>
          <p:nvPr/>
        </p:nvSpPr>
        <p:spPr>
          <a:xfrm>
            <a:off x="898635" y="409903"/>
            <a:ext cx="9800000" cy="5847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Study area: why Asakusa</a:t>
            </a:r>
            <a:endParaRPr/>
          </a:p>
        </p:txBody>
      </p:sp>
      <p:sp>
        <p:nvSpPr>
          <p:cNvPr id="53" name="Criterion card 1"/>
          <p:cNvSpPr/>
          <p:nvPr/>
        </p:nvSpPr>
        <p:spPr>
          <a:xfrm>
            <a:off x="900000" y="1380000"/>
            <a:ext cx="2687500" cy="2700000"/>
          </a:xfrm>
          <a:prstGeom prst="roundRect">
            <a:avLst>
              <a:gd name="adj" fmla="val 6000"/>
            </a:avLst>
          </a:prstGeom>
          <a:solidFill>
            <a:srgbClr val="E9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1100000" y="1580000"/>
            <a:ext cx="500000" cy="5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7BCFDF"/>
                </a:solidFill>
                <a:latin typeface="Arial"/>
              </a:rPr>
              <a:t>01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100000" y="2180000"/>
            <a:ext cx="2287500" cy="18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0F2F46"/>
                </a:solidFill>
                <a:latin typeface="Arial"/>
              </a:rPr>
              <a:t>Clear overtourism hotspot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262B30"/>
                </a:solidFill>
                <a:latin typeface="Arial"/>
              </a:rPr>
              <a:t>Sensō-ji has about 100,000 Google reviews, the most in the area by far.</a:t>
            </a:r>
          </a:p>
        </p:txBody>
      </p:sp>
      <p:sp>
        <p:nvSpPr>
          <p:cNvPr id="56" name="Criterion card 2"/>
          <p:cNvSpPr/>
          <p:nvPr/>
        </p:nvSpPr>
        <p:spPr>
          <a:xfrm>
            <a:off x="3887500" y="1380000"/>
            <a:ext cx="2687500" cy="2700000"/>
          </a:xfrm>
          <a:prstGeom prst="roundRect">
            <a:avLst>
              <a:gd name="adj" fmla="val 6000"/>
            </a:avLst>
          </a:prstGeom>
          <a:solidFill>
            <a:srgbClr val="E9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7" name="TextBox 56"/>
          <p:cNvSpPr txBox="1"/>
          <p:nvPr/>
        </p:nvSpPr>
        <p:spPr>
          <a:xfrm>
            <a:off x="4087500" y="1580000"/>
            <a:ext cx="500000" cy="5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7BCFDF"/>
                </a:solidFill>
                <a:latin typeface="Arial"/>
              </a:rPr>
              <a:t>02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087500" y="2180000"/>
            <a:ext cx="2287500" cy="18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0F2F46"/>
                </a:solidFill>
                <a:latin typeface="Arial"/>
              </a:rPr>
              <a:t>Japanese and foreign visitors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262B30"/>
                </a:solidFill>
                <a:latin typeface="Arial"/>
              </a:rPr>
              <a:t>Needed for the nationality comparison in this study.</a:t>
            </a:r>
          </a:p>
        </p:txBody>
      </p:sp>
      <p:sp>
        <p:nvSpPr>
          <p:cNvPr id="59" name="Criterion card 3"/>
          <p:cNvSpPr/>
          <p:nvPr/>
        </p:nvSpPr>
        <p:spPr>
          <a:xfrm>
            <a:off x="6875000" y="1380000"/>
            <a:ext cx="2687500" cy="2700000"/>
          </a:xfrm>
          <a:prstGeom prst="roundRect">
            <a:avLst>
              <a:gd name="adj" fmla="val 6000"/>
            </a:avLst>
          </a:prstGeom>
          <a:solidFill>
            <a:srgbClr val="E9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0" name="TextBox 59"/>
          <p:cNvSpPr txBox="1"/>
          <p:nvPr/>
        </p:nvSpPr>
        <p:spPr>
          <a:xfrm>
            <a:off x="7075000" y="1580000"/>
            <a:ext cx="500000" cy="5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7BCFDF"/>
                </a:solidFill>
                <a:latin typeface="Arial"/>
              </a:rPr>
              <a:t>03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075000" y="2180000"/>
            <a:ext cx="2287500" cy="18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0F2F46"/>
                </a:solidFill>
                <a:latin typeface="Arial"/>
              </a:rPr>
              <a:t>Alternatives nearby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262B30"/>
                </a:solidFill>
                <a:latin typeface="Arial"/>
              </a:rPr>
              <a:t>Shrines, parks, museums and shopping streets 0.5–1.5 km from the core.</a:t>
            </a:r>
          </a:p>
        </p:txBody>
      </p:sp>
      <p:sp>
        <p:nvSpPr>
          <p:cNvPr id="62" name="Criterion card 4"/>
          <p:cNvSpPr/>
          <p:nvPr/>
        </p:nvSpPr>
        <p:spPr>
          <a:xfrm>
            <a:off x="9862500" y="1380000"/>
            <a:ext cx="2687500" cy="2700000"/>
          </a:xfrm>
          <a:prstGeom prst="roundRect">
            <a:avLst>
              <a:gd name="adj" fmla="val 6000"/>
            </a:avLst>
          </a:prstGeom>
          <a:solidFill>
            <a:srgbClr val="E9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3" name="TextBox 62"/>
          <p:cNvSpPr txBox="1"/>
          <p:nvPr/>
        </p:nvSpPr>
        <p:spPr>
          <a:xfrm>
            <a:off x="10062500" y="1580000"/>
            <a:ext cx="500000" cy="5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7BCFDF"/>
                </a:solidFill>
                <a:latin typeface="Arial"/>
              </a:rPr>
              <a:t>04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062500" y="2180000"/>
            <a:ext cx="2287500" cy="18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0F2F46"/>
                </a:solidFill>
                <a:latin typeface="Arial"/>
              </a:rPr>
              <a:t>Walkable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262B30"/>
                </a:solidFill>
                <a:latin typeface="Arial"/>
              </a:rPr>
              <a:t>Everything fits in a 1.5 km radius, about a 20-minute walk from Kaminarimon.</a:t>
            </a:r>
          </a:p>
        </p:txBody>
      </p:sp>
      <p:sp>
        <p:nvSpPr>
          <p:cNvPr id="65" name="Boundary card"/>
          <p:cNvSpPr/>
          <p:nvPr/>
        </p:nvSpPr>
        <p:spPr>
          <a:xfrm>
            <a:off x="900000" y="4430000"/>
            <a:ext cx="11650000" cy="215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7BCF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6" name="TextBox 65"/>
          <p:cNvSpPr txBox="1"/>
          <p:nvPr/>
        </p:nvSpPr>
        <p:spPr>
          <a:xfrm>
            <a:off x="1200000" y="4630000"/>
            <a:ext cx="11050000" cy="18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0F2F46"/>
                </a:solidFill>
                <a:latin typeface="Arial"/>
              </a:rPr>
              <a:t>Study area boundary</a:t>
            </a:r>
          </a:p>
          <a:p>
            <a:pPr algn="l" marL="228600" indent="-228600">
              <a:spcAft>
                <a:spcPts val="600"/>
              </a:spcAft>
              <a:buChar char="•"/>
            </a:pPr>
            <a:r>
              <a:rPr sz="1600" b="0">
                <a:solidFill>
                  <a:srgbClr val="262B30"/>
                </a:solidFill>
                <a:latin typeface="Arial"/>
              </a:rPr>
              <a:t>Circle of 1.5 km radius centred on Kaminarimon Gate</a:t>
            </a:r>
          </a:p>
          <a:p>
            <a:pPr algn="l" marL="228600" indent="-228600">
              <a:spcAft>
                <a:spcPts val="600"/>
              </a:spcAft>
              <a:buChar char="•"/>
            </a:pPr>
            <a:r>
              <a:rPr sz="1600" b="0">
                <a:solidFill>
                  <a:srgbClr val="262B30"/>
                </a:solidFill>
                <a:latin typeface="Arial"/>
              </a:rPr>
              <a:t>West bank of the Sumida River only, so Tokyo Skytree does not act as a second hub</a:t>
            </a:r>
          </a:p>
          <a:p>
            <a:pPr algn="l" marL="228600" indent="-228600">
              <a:spcAft>
                <a:spcPts val="600"/>
              </a:spcAft>
              <a:buChar char="•"/>
            </a:pPr>
            <a:r>
              <a:rPr sz="1600" b="0">
                <a:solidFill>
                  <a:srgbClr val="262B30"/>
                </a:solidFill>
                <a:latin typeface="Arial"/>
              </a:rPr>
              <a:t>Less popular spots must be 300 m to 1.5 km from a popular spot: close enough to substitute, far enough to be a separate place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8"/>
          <p:cNvSpPr txBox="1"/>
          <p:nvPr>
            <p:ph idx="12" type="sldNum"/>
          </p:nvPr>
        </p:nvSpPr>
        <p:spPr>
          <a:xfrm>
            <a:off x="9074817" y="7033452"/>
            <a:ext cx="2459482" cy="27699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52" name="Google Shape;52;p8"/>
          <p:cNvSpPr txBox="1"/>
          <p:nvPr/>
        </p:nvSpPr>
        <p:spPr>
          <a:xfrm>
            <a:off x="898635" y="409903"/>
            <a:ext cx="9800000" cy="5847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Spot selection method</a:t>
            </a:r>
            <a:endParaRPr/>
          </a:p>
        </p:txBody>
      </p:sp>
      <p:sp>
        <p:nvSpPr>
          <p:cNvPr id="53" name="Step 1"/>
          <p:cNvSpPr/>
          <p:nvPr/>
        </p:nvSpPr>
        <p:spPr>
          <a:xfrm>
            <a:off x="900000" y="1580000"/>
            <a:ext cx="2450000" cy="3300000"/>
          </a:xfrm>
          <a:prstGeom prst="roundRect">
            <a:avLst>
              <a:gd name="adj" fmla="val 6000"/>
            </a:avLst>
          </a:prstGeom>
          <a:solidFill>
            <a:srgbClr val="E9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1100000" y="1780000"/>
            <a:ext cx="2050000" cy="29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5A646E"/>
                </a:solidFill>
                <a:latin typeface="Arial"/>
              </a:rPr>
              <a:t>Step 1</a:t>
            </a:r>
          </a:p>
          <a:p>
            <a:pPr algn="l">
              <a:spcAft>
                <a:spcPts val="0"/>
              </a:spcAft>
            </a:pPr>
            <a:r>
              <a:rPr sz="5400" b="1">
                <a:solidFill>
                  <a:srgbClr val="0F2F46"/>
                </a:solidFill>
                <a:latin typeface="Arial"/>
              </a:rPr>
              <a:t>520</a:t>
            </a:r>
          </a:p>
          <a:p>
            <a:pPr algn="l">
              <a:spcAft>
                <a:spcPts val="1400"/>
              </a:spcAft>
            </a:pPr>
            <a:r>
              <a:rPr sz="1800" b="1">
                <a:solidFill>
                  <a:srgbClr val="0F2F46"/>
                </a:solidFill>
                <a:latin typeface="Arial"/>
              </a:rPr>
              <a:t>places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B30"/>
                </a:solidFill>
                <a:latin typeface="Arial"/>
              </a:rPr>
              <a:t>Google Maps scrape within 1.5 km of Kaminarimon (13 Oct 2026)</a:t>
            </a:r>
          </a:p>
        </p:txBody>
      </p:sp>
      <p:sp>
        <p:nvSpPr>
          <p:cNvPr id="55" name="Right Arrow 54"/>
          <p:cNvSpPr/>
          <p:nvPr/>
        </p:nvSpPr>
        <p:spPr>
          <a:xfrm>
            <a:off x="3498333" y="3030000"/>
            <a:ext cx="320000" cy="380000"/>
          </a:xfrm>
          <a:prstGeom prst="rightArrow">
            <a:avLst/>
          </a:prstGeom>
          <a:solidFill>
            <a:srgbClr val="7BCF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Step 2"/>
          <p:cNvSpPr/>
          <p:nvPr/>
        </p:nvSpPr>
        <p:spPr>
          <a:xfrm>
            <a:off x="3966666" y="1580000"/>
            <a:ext cx="2450000" cy="3300000"/>
          </a:xfrm>
          <a:prstGeom prst="roundRect">
            <a:avLst>
              <a:gd name="adj" fmla="val 6000"/>
            </a:avLst>
          </a:prstGeom>
          <a:solidFill>
            <a:srgbClr val="E9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7" name="TextBox 56"/>
          <p:cNvSpPr txBox="1"/>
          <p:nvPr/>
        </p:nvSpPr>
        <p:spPr>
          <a:xfrm>
            <a:off x="4166666" y="1780000"/>
            <a:ext cx="2050000" cy="29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5A646E"/>
                </a:solidFill>
                <a:latin typeface="Arial"/>
              </a:rPr>
              <a:t>Step 2</a:t>
            </a:r>
          </a:p>
          <a:p>
            <a:pPr algn="l">
              <a:spcAft>
                <a:spcPts val="0"/>
              </a:spcAft>
            </a:pPr>
            <a:r>
              <a:rPr sz="5400" b="1">
                <a:solidFill>
                  <a:srgbClr val="0F2F46"/>
                </a:solidFill>
                <a:latin typeface="Arial"/>
              </a:rPr>
              <a:t>56</a:t>
            </a:r>
          </a:p>
          <a:p>
            <a:pPr algn="l">
              <a:spcAft>
                <a:spcPts val="1400"/>
              </a:spcAft>
            </a:pPr>
            <a:r>
              <a:rPr sz="1800" b="1">
                <a:solidFill>
                  <a:srgbClr val="0F2F46"/>
                </a:solidFill>
                <a:latin typeface="Arial"/>
              </a:rPr>
              <a:t>candidates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B30"/>
                </a:solidFill>
                <a:latin typeface="Arial"/>
              </a:rPr>
              <a:t>Public, non-commercial, west of the river, 50+ reviews</a:t>
            </a:r>
          </a:p>
        </p:txBody>
      </p:sp>
      <p:sp>
        <p:nvSpPr>
          <p:cNvPr id="58" name="Right Arrow 57"/>
          <p:cNvSpPr/>
          <p:nvPr/>
        </p:nvSpPr>
        <p:spPr>
          <a:xfrm>
            <a:off x="6564999" y="3030000"/>
            <a:ext cx="320000" cy="380000"/>
          </a:xfrm>
          <a:prstGeom prst="rightArrow">
            <a:avLst/>
          </a:prstGeom>
          <a:solidFill>
            <a:srgbClr val="7BCF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Step 3"/>
          <p:cNvSpPr/>
          <p:nvPr/>
        </p:nvSpPr>
        <p:spPr>
          <a:xfrm>
            <a:off x="7033332" y="1580000"/>
            <a:ext cx="2450000" cy="3300000"/>
          </a:xfrm>
          <a:prstGeom prst="roundRect">
            <a:avLst>
              <a:gd name="adj" fmla="val 6000"/>
            </a:avLst>
          </a:prstGeom>
          <a:solidFill>
            <a:srgbClr val="E9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0" name="TextBox 59"/>
          <p:cNvSpPr txBox="1"/>
          <p:nvPr/>
        </p:nvSpPr>
        <p:spPr>
          <a:xfrm>
            <a:off x="7233332" y="1780000"/>
            <a:ext cx="2050000" cy="29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5A646E"/>
                </a:solidFill>
                <a:latin typeface="Arial"/>
              </a:rPr>
              <a:t>Step 3</a:t>
            </a:r>
          </a:p>
          <a:p>
            <a:pPr algn="l">
              <a:spcAft>
                <a:spcPts val="0"/>
              </a:spcAft>
            </a:pPr>
            <a:r>
              <a:rPr sz="5400" b="1">
                <a:solidFill>
                  <a:srgbClr val="0F2F46"/>
                </a:solidFill>
                <a:latin typeface="Arial"/>
              </a:rPr>
              <a:t>3</a:t>
            </a:r>
          </a:p>
          <a:p>
            <a:pPr algn="l">
              <a:spcAft>
                <a:spcPts val="1400"/>
              </a:spcAft>
            </a:pPr>
            <a:r>
              <a:rPr sz="1800" b="1">
                <a:solidFill>
                  <a:srgbClr val="0F2F46"/>
                </a:solidFill>
                <a:latin typeface="Arial"/>
              </a:rPr>
              <a:t>classes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B30"/>
                </a:solidFill>
                <a:latin typeface="Arial"/>
              </a:rPr>
              <a:t>Jenks natural breaks on log review count</a:t>
            </a:r>
          </a:p>
        </p:txBody>
      </p:sp>
      <p:sp>
        <p:nvSpPr>
          <p:cNvPr id="61" name="Right Arrow 60"/>
          <p:cNvSpPr/>
          <p:nvPr/>
        </p:nvSpPr>
        <p:spPr>
          <a:xfrm>
            <a:off x="9631665" y="3030000"/>
            <a:ext cx="320000" cy="380000"/>
          </a:xfrm>
          <a:prstGeom prst="rightArrow">
            <a:avLst/>
          </a:prstGeom>
          <a:solidFill>
            <a:srgbClr val="7BCF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Step 4"/>
          <p:cNvSpPr/>
          <p:nvPr/>
        </p:nvSpPr>
        <p:spPr>
          <a:xfrm>
            <a:off x="10099998" y="1580000"/>
            <a:ext cx="2450000" cy="3300000"/>
          </a:xfrm>
          <a:prstGeom prst="roundRect">
            <a:avLst>
              <a:gd name="adj" fmla="val 6000"/>
            </a:avLst>
          </a:prstGeom>
          <a:solidFill>
            <a:srgbClr val="0F2F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3" name="TextBox 62"/>
          <p:cNvSpPr txBox="1"/>
          <p:nvPr/>
        </p:nvSpPr>
        <p:spPr>
          <a:xfrm>
            <a:off x="10299998" y="1780000"/>
            <a:ext cx="2050000" cy="29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7BCFDF"/>
                </a:solidFill>
                <a:latin typeface="Arial"/>
              </a:rPr>
              <a:t>Step 4</a:t>
            </a:r>
          </a:p>
          <a:p>
            <a:pPr algn="l">
              <a:spcAft>
                <a:spcPts val="0"/>
              </a:spcAft>
            </a:pPr>
            <a:r>
              <a:rPr sz="5400" b="1">
                <a:solidFill>
                  <a:srgbClr val="FFFFFF"/>
                </a:solidFill>
                <a:latin typeface="Arial"/>
              </a:rPr>
              <a:t>16</a:t>
            </a:r>
          </a:p>
          <a:p>
            <a:pPr algn="l">
              <a:spcAft>
                <a:spcPts val="1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checkpoints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Arial"/>
              </a:rPr>
              <a:t>All at least 300 m apart (app check-in radius)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00000" y="5230000"/>
            <a:ext cx="11650000" cy="15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0F2F46"/>
                </a:solidFill>
                <a:latin typeface="Arial"/>
              </a:rPr>
              <a:t>Why review counts?</a:t>
            </a:r>
          </a:p>
          <a:p>
            <a:pPr algn="l" marL="228600" indent="-228600">
              <a:spcAft>
                <a:spcPts val="600"/>
              </a:spcAft>
              <a:buChar char="•"/>
            </a:pPr>
            <a:r>
              <a:rPr sz="1500" b="0">
                <a:solidFill>
                  <a:srgbClr val="262B30"/>
                </a:solidFill>
                <a:latin typeface="Arial"/>
              </a:rPr>
              <a:t>Reproducible and widely used as a proxy for visitor volume. Kawanaka et al. (2020) used a similar measure (web search hits).</a:t>
            </a:r>
          </a:p>
          <a:p>
            <a:pPr algn="l" marL="228600" indent="-228600">
              <a:spcAft>
                <a:spcPts val="600"/>
              </a:spcAft>
              <a:buChar char="•"/>
            </a:pPr>
            <a:r>
              <a:rPr sz="1500" b="0">
                <a:solidFill>
                  <a:srgbClr val="262B30"/>
                </a:solidFill>
                <a:latin typeface="Arial"/>
              </a:rPr>
              <a:t>Jenks breaks set the popular / less popular cut at a natural gap in the data, not an arbitrary percentile.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8"/>
          <p:cNvSpPr txBox="1"/>
          <p:nvPr>
            <p:ph idx="12" type="sldNum"/>
          </p:nvPr>
        </p:nvSpPr>
        <p:spPr>
          <a:xfrm>
            <a:off x="9074817" y="7033452"/>
            <a:ext cx="2459482" cy="27699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52" name="Google Shape;52;p8"/>
          <p:cNvSpPr txBox="1"/>
          <p:nvPr/>
        </p:nvSpPr>
        <p:spPr>
          <a:xfrm>
            <a:off x="898635" y="409903"/>
            <a:ext cx="9800000" cy="5847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Result: 16 checkpoints</a:t>
            </a:r>
            <a:endParaRPr/>
          </a:p>
        </p:txBody>
      </p:sp>
      <p:pic>
        <p:nvPicPr>
          <p:cNvPr id="53" name="Picture 52" descr="asakusa_spots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0000" y="1330000"/>
            <a:ext cx="5520000" cy="5520000"/>
          </a:xfrm>
          <a:prstGeom prst="rect">
            <a:avLst/>
          </a:prstGeom>
        </p:spPr>
      </p:pic>
      <p:sp>
        <p:nvSpPr>
          <p:cNvPr id="54" name="Class High (popular)"/>
          <p:cNvSpPr/>
          <p:nvPr/>
        </p:nvSpPr>
        <p:spPr>
          <a:xfrm>
            <a:off x="6770000" y="1380000"/>
            <a:ext cx="5780000" cy="1150000"/>
          </a:xfrm>
          <a:prstGeom prst="roundRect">
            <a:avLst>
              <a:gd name="adj" fmla="val 6000"/>
            </a:avLst>
          </a:prstGeom>
          <a:solidFill>
            <a:srgbClr val="0F2F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" name="TextBox 54"/>
          <p:cNvSpPr txBox="1"/>
          <p:nvPr/>
        </p:nvSpPr>
        <p:spPr>
          <a:xfrm>
            <a:off x="6990000" y="1530000"/>
            <a:ext cx="5340000" cy="9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High (popular)  </a:t>
            </a:r>
            <a:r>
              <a:rPr sz="1600" b="0">
                <a:solidFill>
                  <a:srgbClr val="FFFFFF"/>
                </a:solidFill>
                <a:latin typeface="Arial"/>
              </a:rPr>
              <a:t>≥ 13,091 reviews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Arial"/>
              </a:rPr>
              <a:t>Sensō-ji, Kaminarimon, Kappabashi</a:t>
            </a:r>
          </a:p>
        </p:txBody>
      </p:sp>
      <p:sp>
        <p:nvSpPr>
          <p:cNvPr id="56" name="Class Medium"/>
          <p:cNvSpPr/>
          <p:nvPr/>
        </p:nvSpPr>
        <p:spPr>
          <a:xfrm>
            <a:off x="6770000" y="2680000"/>
            <a:ext cx="5780000" cy="1150000"/>
          </a:xfrm>
          <a:prstGeom prst="roundRect">
            <a:avLst>
              <a:gd name="adj" fmla="val 6000"/>
            </a:avLst>
          </a:prstGeom>
          <a:solidFill>
            <a:srgbClr val="E9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7" name="TextBox 56"/>
          <p:cNvSpPr txBox="1"/>
          <p:nvPr/>
        </p:nvSpPr>
        <p:spPr>
          <a:xfrm>
            <a:off x="6990000" y="2830000"/>
            <a:ext cx="5340000" cy="9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0F2F46"/>
                </a:solidFill>
                <a:latin typeface="Arial"/>
              </a:rPr>
              <a:t>Medium  </a:t>
            </a:r>
            <a:r>
              <a:rPr sz="1600" b="0">
                <a:solidFill>
                  <a:srgbClr val="0F2F46"/>
                </a:solidFill>
                <a:latin typeface="Arial"/>
              </a:rPr>
              <a:t>597 – 13,090 reviews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262B30"/>
                </a:solidFill>
                <a:latin typeface="Arial"/>
              </a:rPr>
              <a:t>7 checkpoints, mostly shrines</a:t>
            </a:r>
          </a:p>
        </p:txBody>
      </p:sp>
      <p:sp>
        <p:nvSpPr>
          <p:cNvPr id="58" name="Class Low"/>
          <p:cNvSpPr/>
          <p:nvPr/>
        </p:nvSpPr>
        <p:spPr>
          <a:xfrm>
            <a:off x="6770000" y="3980000"/>
            <a:ext cx="5780000" cy="1150000"/>
          </a:xfrm>
          <a:prstGeom prst="roundRect">
            <a:avLst>
              <a:gd name="adj" fmla="val 6000"/>
            </a:avLst>
          </a:prstGeom>
          <a:solidFill>
            <a:srgbClr val="E9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9" name="TextBox 58"/>
          <p:cNvSpPr txBox="1"/>
          <p:nvPr/>
        </p:nvSpPr>
        <p:spPr>
          <a:xfrm>
            <a:off x="6990000" y="4130000"/>
            <a:ext cx="5340000" cy="9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0F2F46"/>
                </a:solidFill>
                <a:latin typeface="Arial"/>
              </a:rPr>
              <a:t>Low  </a:t>
            </a:r>
            <a:r>
              <a:rPr sz="1600" b="0">
                <a:solidFill>
                  <a:srgbClr val="0F2F46"/>
                </a:solidFill>
                <a:latin typeface="Arial"/>
              </a:rPr>
              <a:t>&lt; 597 reviews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262B30"/>
                </a:solidFill>
                <a:latin typeface="Arial"/>
              </a:rPr>
              <a:t>6 checkpoints: museums, parks, shrines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770000" y="5330000"/>
            <a:ext cx="5780000" cy="15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228600" indent="-228600">
              <a:spcAft>
                <a:spcPts val="600"/>
              </a:spcAft>
              <a:buChar char="•"/>
            </a:pPr>
            <a:r>
              <a:rPr sz="1400" b="0">
                <a:solidFill>
                  <a:srgbClr val="262B30"/>
                </a:solidFill>
                <a:latin typeface="Arial"/>
              </a:rPr>
              <a:t>Nakamise is merged into the Kaminarimon checkpoint (85 m apart).</a:t>
            </a:r>
          </a:p>
          <a:p>
            <a:pPr algn="l" marL="228600" indent="-228600">
              <a:spcAft>
                <a:spcPts val="600"/>
              </a:spcAft>
              <a:buChar char="•"/>
            </a:pPr>
            <a:r>
              <a:rPr sz="1400" b="0">
                <a:solidFill>
                  <a:srgbClr val="262B30"/>
                </a:solidFill>
                <a:latin typeface="Arial"/>
              </a:rPr>
              <a:t>Minimum distance between any two checkpoints: 310 m.</a:t>
            </a:r>
          </a:p>
          <a:p>
            <a:pPr algn="l" marL="228600" indent="-228600">
              <a:spcAft>
                <a:spcPts val="600"/>
              </a:spcAft>
              <a:buChar char="•"/>
            </a:pPr>
            <a:r>
              <a:rPr sz="1400" b="0">
                <a:solidFill>
                  <a:srgbClr val="5A646E"/>
                </a:solidFill>
                <a:latin typeface="Arial"/>
              </a:rPr>
              <a:t>Distances are straight-line, not walking routes.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8"/>
          <p:cNvSpPr txBox="1"/>
          <p:nvPr>
            <p:ph idx="12" type="sldNum"/>
          </p:nvPr>
        </p:nvSpPr>
        <p:spPr>
          <a:xfrm>
            <a:off x="9074817" y="7033452"/>
            <a:ext cx="2459482" cy="27699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52" name="Google Shape;52;p8"/>
          <p:cNvSpPr txBox="1"/>
          <p:nvPr/>
        </p:nvSpPr>
        <p:spPr>
          <a:xfrm>
            <a:off x="898635" y="409903"/>
            <a:ext cx="9800000" cy="5847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Selected checkpoints</a:t>
            </a:r>
            <a:endParaRPr/>
          </a:p>
        </p:txBody>
      </p:sp>
      <p:graphicFrame>
        <p:nvGraphicFramePr>
          <p:cNvPr id="53" name="Table 52"/>
          <p:cNvGraphicFramePr>
            <a:graphicFrameLocks noGrp="1"/>
          </p:cNvGraphicFramePr>
          <p:nvPr/>
        </p:nvGraphicFramePr>
        <p:xfrm>
          <a:off x="900000" y="1380000"/>
          <a:ext cx="5650000" cy="4680000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395500"/>
                <a:gridCol w="2373000"/>
                <a:gridCol w="1073500"/>
                <a:gridCol w="904000"/>
                <a:gridCol w="904000"/>
              </a:tblGrid>
              <a:tr h="52000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#</a:t>
                      </a:r>
                    </a:p>
                  </a:txBody>
                  <a:tcPr marL="70000" marR="70000" marT="30000" marB="30000" anchor="ctr">
                    <a:solidFill>
                      <a:srgbClr val="0F2F4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Spot</a:t>
                      </a:r>
                    </a:p>
                  </a:txBody>
                  <a:tcPr marL="70000" marR="70000" marT="30000" marB="30000" anchor="ctr">
                    <a:solidFill>
                      <a:srgbClr val="0F2F4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Type</a:t>
                      </a:r>
                    </a:p>
                  </a:txBody>
                  <a:tcPr marL="70000" marR="70000" marT="30000" marB="30000" anchor="ctr">
                    <a:solidFill>
                      <a:srgbClr val="0F2F4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Reviews</a:t>
                      </a:r>
                    </a:p>
                  </a:txBody>
                  <a:tcPr marL="70000" marR="70000" marT="30000" marB="30000" anchor="ctr">
                    <a:solidFill>
                      <a:srgbClr val="0F2F4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Dist. (m)</a:t>
                      </a:r>
                    </a:p>
                  </a:txBody>
                  <a:tcPr marL="70000" marR="70000" marT="30000" marB="30000" anchor="ctr">
                    <a:solidFill>
                      <a:srgbClr val="0F2F46"/>
                    </a:solidFill>
                  </a:tcPr>
                </a:tc>
              </a:tr>
              <a:tr h="520000"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C25E12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70000" marR="70000" marT="30000" marB="3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C25E12"/>
                          </a:solidFill>
                          <a:latin typeface="Arial"/>
                        </a:rPr>
                        <a:t>Sensō-ji</a:t>
                      </a:r>
                    </a:p>
                  </a:txBody>
                  <a:tcPr marL="70000" marR="70000" marT="30000" marB="3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C25E12"/>
                          </a:solidFill>
                          <a:latin typeface="Arial"/>
                        </a:rPr>
                        <a:t>Temple</a:t>
                      </a:r>
                    </a:p>
                  </a:txBody>
                  <a:tcPr marL="70000" marR="70000" marT="30000" marB="3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C25E12"/>
                          </a:solidFill>
                          <a:latin typeface="Arial"/>
                        </a:rPr>
                        <a:t>99,946</a:t>
                      </a:r>
                    </a:p>
                  </a:txBody>
                  <a:tcPr marL="70000" marR="70000" marT="30000" marB="3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C25E12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70000" marR="70000" marT="30000" marB="30000" anchor="ctr">
                    <a:solidFill>
                      <a:srgbClr val="FFFFFF"/>
                    </a:solidFill>
                  </a:tcPr>
                </a:tc>
              </a:tr>
              <a:tr h="520000"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C25E12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70000" marR="70000" marT="30000" marB="30000" anchor="ctr">
                    <a:solidFill>
                      <a:srgbClr val="E9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C25E12"/>
                          </a:solidFill>
                          <a:latin typeface="Arial"/>
                        </a:rPr>
                        <a:t>Kaminarimon Gate</a:t>
                      </a:r>
                    </a:p>
                  </a:txBody>
                  <a:tcPr marL="70000" marR="70000" marT="30000" marB="30000" anchor="ctr">
                    <a:solidFill>
                      <a:srgbClr val="E9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C25E12"/>
                          </a:solidFill>
                          <a:latin typeface="Arial"/>
                        </a:rPr>
                        <a:t>Landmark</a:t>
                      </a:r>
                    </a:p>
                  </a:txBody>
                  <a:tcPr marL="70000" marR="70000" marT="30000" marB="30000" anchor="ctr">
                    <a:solidFill>
                      <a:srgbClr val="E9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C25E12"/>
                          </a:solidFill>
                          <a:latin typeface="Arial"/>
                        </a:rPr>
                        <a:t>38,668</a:t>
                      </a:r>
                    </a:p>
                  </a:txBody>
                  <a:tcPr marL="70000" marR="70000" marT="30000" marB="30000" anchor="ctr">
                    <a:solidFill>
                      <a:srgbClr val="E9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C25E12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70000" marR="70000" marT="30000" marB="30000" anchor="ctr">
                    <a:solidFill>
                      <a:srgbClr val="E9F6F9"/>
                    </a:solidFill>
                  </a:tcPr>
                </a:tc>
              </a:tr>
              <a:tr h="520000"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C25E12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70000" marR="70000" marT="30000" marB="3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C25E12"/>
                          </a:solidFill>
                          <a:latin typeface="Arial"/>
                        </a:rPr>
                        <a:t>Kappabashi Kitchen Town</a:t>
                      </a:r>
                    </a:p>
                  </a:txBody>
                  <a:tcPr marL="70000" marR="70000" marT="30000" marB="3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C25E12"/>
                          </a:solidFill>
                          <a:latin typeface="Arial"/>
                        </a:rPr>
                        <a:t>Shopping street</a:t>
                      </a:r>
                    </a:p>
                  </a:txBody>
                  <a:tcPr marL="70000" marR="70000" marT="30000" marB="3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C25E12"/>
                          </a:solidFill>
                          <a:latin typeface="Arial"/>
                        </a:rPr>
                        <a:t>13,091</a:t>
                      </a:r>
                    </a:p>
                  </a:txBody>
                  <a:tcPr marL="70000" marR="70000" marT="30000" marB="3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C25E12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70000" marR="70000" marT="30000" marB="30000" anchor="ctr">
                    <a:solidFill>
                      <a:srgbClr val="FFFFFF"/>
                    </a:solidFill>
                  </a:tcPr>
                </a:tc>
              </a:tr>
              <a:tr h="520000"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262B30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70000" marR="70000" marT="30000" marB="30000" anchor="ctr">
                    <a:solidFill>
                      <a:srgbClr val="E9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62B30"/>
                          </a:solidFill>
                          <a:latin typeface="Arial"/>
                        </a:rPr>
                        <a:t>Imado</a:t>
                      </a:r>
                    </a:p>
                  </a:txBody>
                  <a:tcPr marL="70000" marR="70000" marT="30000" marB="30000" anchor="ctr">
                    <a:solidFill>
                      <a:srgbClr val="E9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62B30"/>
                          </a:solidFill>
                          <a:latin typeface="Arial"/>
                        </a:rPr>
                        <a:t>Shrine</a:t>
                      </a:r>
                    </a:p>
                  </a:txBody>
                  <a:tcPr marL="70000" marR="70000" marT="30000" marB="30000" anchor="ctr">
                    <a:solidFill>
                      <a:srgbClr val="E9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262B30"/>
                          </a:solidFill>
                          <a:latin typeface="Arial"/>
                        </a:rPr>
                        <a:t>4,271</a:t>
                      </a:r>
                    </a:p>
                  </a:txBody>
                  <a:tcPr marL="70000" marR="70000" marT="30000" marB="30000" anchor="ctr">
                    <a:solidFill>
                      <a:srgbClr val="E9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262B30"/>
                          </a:solidFill>
                          <a:latin typeface="Arial"/>
                        </a:rPr>
                        <a:t>801</a:t>
                      </a:r>
                    </a:p>
                  </a:txBody>
                  <a:tcPr marL="70000" marR="70000" marT="30000" marB="30000" anchor="ctr">
                    <a:solidFill>
                      <a:srgbClr val="E9F6F9"/>
                    </a:solidFill>
                  </a:tcPr>
                </a:tc>
              </a:tr>
              <a:tr h="520000"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262B30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70000" marR="70000" marT="30000" marB="3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62B30"/>
                          </a:solidFill>
                          <a:latin typeface="Arial"/>
                        </a:rPr>
                        <a:t>Ōtori</a:t>
                      </a:r>
                    </a:p>
                  </a:txBody>
                  <a:tcPr marL="70000" marR="70000" marT="30000" marB="3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62B30"/>
                          </a:solidFill>
                          <a:latin typeface="Arial"/>
                        </a:rPr>
                        <a:t>Shrine</a:t>
                      </a:r>
                    </a:p>
                  </a:txBody>
                  <a:tcPr marL="70000" marR="70000" marT="30000" marB="3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262B30"/>
                          </a:solidFill>
                          <a:latin typeface="Arial"/>
                        </a:rPr>
                        <a:t>3,252</a:t>
                      </a:r>
                    </a:p>
                  </a:txBody>
                  <a:tcPr marL="70000" marR="70000" marT="30000" marB="3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262B30"/>
                          </a:solidFill>
                          <a:latin typeface="Arial"/>
                        </a:rPr>
                        <a:t>962</a:t>
                      </a:r>
                    </a:p>
                  </a:txBody>
                  <a:tcPr marL="70000" marR="70000" marT="30000" marB="30000" anchor="ctr">
                    <a:solidFill>
                      <a:srgbClr val="FFFFFF"/>
                    </a:solidFill>
                  </a:tcPr>
                </a:tc>
              </a:tr>
              <a:tr h="520000"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262B30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70000" marR="70000" marT="30000" marB="30000" anchor="ctr">
                    <a:solidFill>
                      <a:srgbClr val="E9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62B30"/>
                          </a:solidFill>
                          <a:latin typeface="Arial"/>
                        </a:rPr>
                        <a:t>Shitaya</a:t>
                      </a:r>
                    </a:p>
                  </a:txBody>
                  <a:tcPr marL="70000" marR="70000" marT="30000" marB="30000" anchor="ctr">
                    <a:solidFill>
                      <a:srgbClr val="E9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62B30"/>
                          </a:solidFill>
                          <a:latin typeface="Arial"/>
                        </a:rPr>
                        <a:t>Shrine</a:t>
                      </a:r>
                    </a:p>
                  </a:txBody>
                  <a:tcPr marL="70000" marR="70000" marT="30000" marB="30000" anchor="ctr">
                    <a:solidFill>
                      <a:srgbClr val="E9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262B30"/>
                          </a:solidFill>
                          <a:latin typeface="Arial"/>
                        </a:rPr>
                        <a:t>2,115</a:t>
                      </a:r>
                    </a:p>
                  </a:txBody>
                  <a:tcPr marL="70000" marR="70000" marT="30000" marB="30000" anchor="ctr">
                    <a:solidFill>
                      <a:srgbClr val="E9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262B30"/>
                          </a:solidFill>
                          <a:latin typeface="Arial"/>
                        </a:rPr>
                        <a:t>601</a:t>
                      </a:r>
                    </a:p>
                  </a:txBody>
                  <a:tcPr marL="70000" marR="70000" marT="30000" marB="30000" anchor="ctr">
                    <a:solidFill>
                      <a:srgbClr val="E9F6F9"/>
                    </a:solidFill>
                  </a:tcPr>
                </a:tc>
              </a:tr>
              <a:tr h="520000"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262B30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70000" marR="70000" marT="30000" marB="3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62B30"/>
                          </a:solidFill>
                          <a:latin typeface="Arial"/>
                        </a:rPr>
                        <a:t>Torikoe</a:t>
                      </a:r>
                    </a:p>
                  </a:txBody>
                  <a:tcPr marL="70000" marR="70000" marT="30000" marB="3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62B30"/>
                          </a:solidFill>
                          <a:latin typeface="Arial"/>
                        </a:rPr>
                        <a:t>Shrine</a:t>
                      </a:r>
                    </a:p>
                  </a:txBody>
                  <a:tcPr marL="70000" marR="70000" marT="30000" marB="3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262B30"/>
                          </a:solidFill>
                          <a:latin typeface="Arial"/>
                        </a:rPr>
                        <a:t>1,670</a:t>
                      </a:r>
                    </a:p>
                  </a:txBody>
                  <a:tcPr marL="70000" marR="70000" marT="30000" marB="3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262B30"/>
                          </a:solidFill>
                          <a:latin typeface="Arial"/>
                        </a:rPr>
                        <a:t>974</a:t>
                      </a:r>
                    </a:p>
                  </a:txBody>
                  <a:tcPr marL="70000" marR="70000" marT="30000" marB="30000" anchor="ctr">
                    <a:solidFill>
                      <a:srgbClr val="FFFFFF"/>
                    </a:solidFill>
                  </a:tcPr>
                </a:tc>
              </a:tr>
              <a:tr h="520000"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262B30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70000" marR="70000" marT="30000" marB="30000" anchor="ctr">
                    <a:solidFill>
                      <a:srgbClr val="E9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62B30"/>
                          </a:solidFill>
                          <a:latin typeface="Arial"/>
                        </a:rPr>
                        <a:t>Kuramae</a:t>
                      </a:r>
                    </a:p>
                  </a:txBody>
                  <a:tcPr marL="70000" marR="70000" marT="30000" marB="30000" anchor="ctr">
                    <a:solidFill>
                      <a:srgbClr val="E9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62B30"/>
                          </a:solidFill>
                          <a:latin typeface="Arial"/>
                        </a:rPr>
                        <a:t>Shrine</a:t>
                      </a:r>
                    </a:p>
                  </a:txBody>
                  <a:tcPr marL="70000" marR="70000" marT="30000" marB="30000" anchor="ctr">
                    <a:solidFill>
                      <a:srgbClr val="E9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262B30"/>
                          </a:solidFill>
                          <a:latin typeface="Arial"/>
                        </a:rPr>
                        <a:t>1,238</a:t>
                      </a:r>
                    </a:p>
                  </a:txBody>
                  <a:tcPr marL="70000" marR="70000" marT="30000" marB="30000" anchor="ctr">
                    <a:solidFill>
                      <a:srgbClr val="E9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262B30"/>
                          </a:solidFill>
                          <a:latin typeface="Arial"/>
                        </a:rPr>
                        <a:t>730</a:t>
                      </a:r>
                    </a:p>
                  </a:txBody>
                  <a:tcPr marL="70000" marR="70000" marT="30000" marB="30000" anchor="ctr">
                    <a:solidFill>
                      <a:srgbClr val="E9F6F9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54" name="Table 53"/>
          <p:cNvGraphicFramePr>
            <a:graphicFrameLocks noGrp="1"/>
          </p:cNvGraphicFramePr>
          <p:nvPr/>
        </p:nvGraphicFramePr>
        <p:xfrm>
          <a:off x="6900000" y="1380000"/>
          <a:ext cx="5650000" cy="4680000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395500"/>
                <a:gridCol w="2373000"/>
                <a:gridCol w="1073500"/>
                <a:gridCol w="904000"/>
                <a:gridCol w="904000"/>
              </a:tblGrid>
              <a:tr h="52000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#</a:t>
                      </a:r>
                    </a:p>
                  </a:txBody>
                  <a:tcPr marL="70000" marR="70000" marT="30000" marB="30000" anchor="ctr">
                    <a:solidFill>
                      <a:srgbClr val="0F2F4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Spot</a:t>
                      </a:r>
                    </a:p>
                  </a:txBody>
                  <a:tcPr marL="70000" marR="70000" marT="30000" marB="30000" anchor="ctr">
                    <a:solidFill>
                      <a:srgbClr val="0F2F4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Type</a:t>
                      </a:r>
                    </a:p>
                  </a:txBody>
                  <a:tcPr marL="70000" marR="70000" marT="30000" marB="30000" anchor="ctr">
                    <a:solidFill>
                      <a:srgbClr val="0F2F4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Reviews</a:t>
                      </a:r>
                    </a:p>
                  </a:txBody>
                  <a:tcPr marL="70000" marR="70000" marT="30000" marB="30000" anchor="ctr">
                    <a:solidFill>
                      <a:srgbClr val="0F2F4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Dist. (m)</a:t>
                      </a:r>
                    </a:p>
                  </a:txBody>
                  <a:tcPr marL="70000" marR="70000" marT="30000" marB="30000" anchor="ctr">
                    <a:solidFill>
                      <a:srgbClr val="0F2F46"/>
                    </a:solidFill>
                  </a:tcPr>
                </a:tc>
              </a:tr>
              <a:tr h="520000"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262B30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70000" marR="70000" marT="30000" marB="3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62B30"/>
                          </a:solidFill>
                          <a:latin typeface="Arial"/>
                        </a:rPr>
                        <a:t>Iriya South Park</a:t>
                      </a:r>
                    </a:p>
                  </a:txBody>
                  <a:tcPr marL="70000" marR="70000" marT="30000" marB="3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62B30"/>
                          </a:solidFill>
                          <a:latin typeface="Arial"/>
                        </a:rPr>
                        <a:t>Park</a:t>
                      </a:r>
                    </a:p>
                  </a:txBody>
                  <a:tcPr marL="70000" marR="70000" marT="30000" marB="3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262B30"/>
                          </a:solidFill>
                          <a:latin typeface="Arial"/>
                        </a:rPr>
                        <a:t>647</a:t>
                      </a:r>
                    </a:p>
                  </a:txBody>
                  <a:tcPr marL="70000" marR="70000" marT="30000" marB="3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262B30"/>
                          </a:solidFill>
                          <a:latin typeface="Arial"/>
                        </a:rPr>
                        <a:t>757</a:t>
                      </a:r>
                    </a:p>
                  </a:txBody>
                  <a:tcPr marL="70000" marR="70000" marT="30000" marB="30000" anchor="ctr">
                    <a:solidFill>
                      <a:srgbClr val="FFFFFF"/>
                    </a:solidFill>
                  </a:tcPr>
                </a:tc>
              </a:tr>
              <a:tr h="520000"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262B30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70000" marR="70000" marT="30000" marB="30000" anchor="ctr">
                    <a:solidFill>
                      <a:srgbClr val="E9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62B30"/>
                          </a:solidFill>
                          <a:latin typeface="Arial"/>
                        </a:rPr>
                        <a:t>Yasaki Inari</a:t>
                      </a:r>
                    </a:p>
                  </a:txBody>
                  <a:tcPr marL="70000" marR="70000" marT="30000" marB="30000" anchor="ctr">
                    <a:solidFill>
                      <a:srgbClr val="E9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62B30"/>
                          </a:solidFill>
                          <a:latin typeface="Arial"/>
                        </a:rPr>
                        <a:t>Shrine</a:t>
                      </a:r>
                    </a:p>
                  </a:txBody>
                  <a:tcPr marL="70000" marR="70000" marT="30000" marB="30000" anchor="ctr">
                    <a:solidFill>
                      <a:srgbClr val="E9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262B30"/>
                          </a:solidFill>
                          <a:latin typeface="Arial"/>
                        </a:rPr>
                        <a:t>597</a:t>
                      </a:r>
                    </a:p>
                  </a:txBody>
                  <a:tcPr marL="70000" marR="70000" marT="30000" marB="30000" anchor="ctr">
                    <a:solidFill>
                      <a:srgbClr val="E9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262B30"/>
                          </a:solidFill>
                          <a:latin typeface="Arial"/>
                        </a:rPr>
                        <a:t>329</a:t>
                      </a:r>
                    </a:p>
                  </a:txBody>
                  <a:tcPr marL="70000" marR="70000" marT="30000" marB="30000" anchor="ctr">
                    <a:solidFill>
                      <a:srgbClr val="E9F6F9"/>
                    </a:solidFill>
                  </a:tcPr>
                </a:tc>
              </a:tr>
              <a:tr h="520000"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262B30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70000" marR="70000" marT="30000" marB="3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62B30"/>
                          </a:solidFill>
                          <a:latin typeface="Arial"/>
                        </a:rPr>
                        <a:t>Dairokuten Sakaki</a:t>
                      </a:r>
                    </a:p>
                  </a:txBody>
                  <a:tcPr marL="70000" marR="70000" marT="30000" marB="3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62B30"/>
                          </a:solidFill>
                          <a:latin typeface="Arial"/>
                        </a:rPr>
                        <a:t>Shrine</a:t>
                      </a:r>
                    </a:p>
                  </a:txBody>
                  <a:tcPr marL="70000" marR="70000" marT="30000" marB="3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262B30"/>
                          </a:solidFill>
                          <a:latin typeface="Arial"/>
                        </a:rPr>
                        <a:t>379</a:t>
                      </a:r>
                    </a:p>
                  </a:txBody>
                  <a:tcPr marL="70000" marR="70000" marT="30000" marB="3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262B30"/>
                          </a:solidFill>
                          <a:latin typeface="Arial"/>
                        </a:rPr>
                        <a:t>1,158</a:t>
                      </a:r>
                    </a:p>
                  </a:txBody>
                  <a:tcPr marL="70000" marR="70000" marT="30000" marB="30000" anchor="ctr">
                    <a:solidFill>
                      <a:srgbClr val="FFFFFF"/>
                    </a:solidFill>
                  </a:tcPr>
                </a:tc>
              </a:tr>
              <a:tr h="520000"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262B30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70000" marR="70000" marT="30000" marB="30000" anchor="ctr">
                    <a:solidFill>
                      <a:srgbClr val="E9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62B30"/>
                          </a:solidFill>
                          <a:latin typeface="Arial"/>
                        </a:rPr>
                        <a:t>World Bags &amp; Luggage Museum</a:t>
                      </a:r>
                    </a:p>
                  </a:txBody>
                  <a:tcPr marL="70000" marR="70000" marT="30000" marB="30000" anchor="ctr">
                    <a:solidFill>
                      <a:srgbClr val="E9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62B30"/>
                          </a:solidFill>
                          <a:latin typeface="Arial"/>
                        </a:rPr>
                        <a:t>Museum</a:t>
                      </a:r>
                    </a:p>
                  </a:txBody>
                  <a:tcPr marL="70000" marR="70000" marT="30000" marB="30000" anchor="ctr">
                    <a:solidFill>
                      <a:srgbClr val="E9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262B30"/>
                          </a:solidFill>
                          <a:latin typeface="Arial"/>
                        </a:rPr>
                        <a:t>371</a:t>
                      </a:r>
                    </a:p>
                  </a:txBody>
                  <a:tcPr marL="70000" marR="70000" marT="30000" marB="30000" anchor="ctr">
                    <a:solidFill>
                      <a:srgbClr val="E9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262B30"/>
                          </a:solidFill>
                          <a:latin typeface="Arial"/>
                        </a:rPr>
                        <a:t>354</a:t>
                      </a:r>
                    </a:p>
                  </a:txBody>
                  <a:tcPr marL="70000" marR="70000" marT="30000" marB="30000" anchor="ctr">
                    <a:solidFill>
                      <a:srgbClr val="E9F6F9"/>
                    </a:solidFill>
                  </a:tcPr>
                </a:tc>
              </a:tr>
              <a:tr h="520000"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262B30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70000" marR="70000" marT="30000" marB="3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62B30"/>
                          </a:solidFill>
                          <a:latin typeface="Arial"/>
                        </a:rPr>
                        <a:t>Edo Taitō Crafts Museum</a:t>
                      </a:r>
                    </a:p>
                  </a:txBody>
                  <a:tcPr marL="70000" marR="70000" marT="30000" marB="3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62B30"/>
                          </a:solidFill>
                          <a:latin typeface="Arial"/>
                        </a:rPr>
                        <a:t>Museum</a:t>
                      </a:r>
                    </a:p>
                  </a:txBody>
                  <a:tcPr marL="70000" marR="70000" marT="30000" marB="3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262B30"/>
                          </a:solidFill>
                          <a:latin typeface="Arial"/>
                        </a:rPr>
                        <a:t>333</a:t>
                      </a:r>
                    </a:p>
                  </a:txBody>
                  <a:tcPr marL="70000" marR="70000" marT="30000" marB="3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262B30"/>
                          </a:solidFill>
                          <a:latin typeface="Arial"/>
                        </a:rPr>
                        <a:t>310</a:t>
                      </a:r>
                    </a:p>
                  </a:txBody>
                  <a:tcPr marL="70000" marR="70000" marT="30000" marB="30000" anchor="ctr">
                    <a:solidFill>
                      <a:srgbClr val="FFFFFF"/>
                    </a:solidFill>
                  </a:tcPr>
                </a:tc>
              </a:tr>
              <a:tr h="520000"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262B30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70000" marR="70000" marT="30000" marB="30000" anchor="ctr">
                    <a:solidFill>
                      <a:srgbClr val="E9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62B30"/>
                          </a:solidFill>
                          <a:latin typeface="Arial"/>
                        </a:rPr>
                        <a:t>Asakusa Fuji Sengen</a:t>
                      </a:r>
                    </a:p>
                  </a:txBody>
                  <a:tcPr marL="70000" marR="70000" marT="30000" marB="30000" anchor="ctr">
                    <a:solidFill>
                      <a:srgbClr val="E9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62B30"/>
                          </a:solidFill>
                          <a:latin typeface="Arial"/>
                        </a:rPr>
                        <a:t>Shrine</a:t>
                      </a:r>
                    </a:p>
                  </a:txBody>
                  <a:tcPr marL="70000" marR="70000" marT="30000" marB="30000" anchor="ctr">
                    <a:solidFill>
                      <a:srgbClr val="E9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262B30"/>
                          </a:solidFill>
                          <a:latin typeface="Arial"/>
                        </a:rPr>
                        <a:t>322</a:t>
                      </a:r>
                    </a:p>
                  </a:txBody>
                  <a:tcPr marL="70000" marR="70000" marT="30000" marB="30000" anchor="ctr">
                    <a:solidFill>
                      <a:srgbClr val="E9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262B30"/>
                          </a:solidFill>
                          <a:latin typeface="Arial"/>
                        </a:rPr>
                        <a:t>530</a:t>
                      </a:r>
                    </a:p>
                  </a:txBody>
                  <a:tcPr marL="70000" marR="70000" marT="30000" marB="30000" anchor="ctr">
                    <a:solidFill>
                      <a:srgbClr val="E9F6F9"/>
                    </a:solidFill>
                  </a:tcPr>
                </a:tc>
              </a:tr>
              <a:tr h="520000"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262B30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70000" marR="70000" marT="30000" marB="3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62B30"/>
                          </a:solidFill>
                          <a:latin typeface="Arial"/>
                        </a:rPr>
                        <a:t>Sumida River Ryokudō Park</a:t>
                      </a:r>
                    </a:p>
                  </a:txBody>
                  <a:tcPr marL="70000" marR="70000" marT="30000" marB="3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62B30"/>
                          </a:solidFill>
                          <a:latin typeface="Arial"/>
                        </a:rPr>
                        <a:t>Park</a:t>
                      </a:r>
                    </a:p>
                  </a:txBody>
                  <a:tcPr marL="70000" marR="70000" marT="30000" marB="3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262B30"/>
                          </a:solidFill>
                          <a:latin typeface="Arial"/>
                        </a:rPr>
                        <a:t>206</a:t>
                      </a:r>
                    </a:p>
                  </a:txBody>
                  <a:tcPr marL="70000" marR="70000" marT="30000" marB="3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262B30"/>
                          </a:solidFill>
                          <a:latin typeface="Arial"/>
                        </a:rPr>
                        <a:t>1,140</a:t>
                      </a:r>
                    </a:p>
                  </a:txBody>
                  <a:tcPr marL="70000" marR="70000" marT="30000" marB="30000" anchor="ctr">
                    <a:solidFill>
                      <a:srgbClr val="FFFFFF"/>
                    </a:solidFill>
                  </a:tcPr>
                </a:tc>
              </a:tr>
              <a:tr h="520000"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262B30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70000" marR="70000" marT="30000" marB="30000" anchor="ctr">
                    <a:solidFill>
                      <a:srgbClr val="E9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62B30"/>
                          </a:solidFill>
                          <a:latin typeface="Arial"/>
                        </a:rPr>
                        <a:t>Miyamoto-Unosuke Drum Museum</a:t>
                      </a:r>
                    </a:p>
                  </a:txBody>
                  <a:tcPr marL="70000" marR="70000" marT="30000" marB="30000" anchor="ctr">
                    <a:solidFill>
                      <a:srgbClr val="E9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62B30"/>
                          </a:solidFill>
                          <a:latin typeface="Arial"/>
                        </a:rPr>
                        <a:t>Museum</a:t>
                      </a:r>
                    </a:p>
                  </a:txBody>
                  <a:tcPr marL="70000" marR="70000" marT="30000" marB="30000" anchor="ctr">
                    <a:solidFill>
                      <a:srgbClr val="E9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262B30"/>
                          </a:solidFill>
                          <a:latin typeface="Arial"/>
                        </a:rPr>
                        <a:t>156</a:t>
                      </a:r>
                    </a:p>
                  </a:txBody>
                  <a:tcPr marL="70000" marR="70000" marT="30000" marB="30000" anchor="ctr">
                    <a:solidFill>
                      <a:srgbClr val="E9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262B30"/>
                          </a:solidFill>
                          <a:latin typeface="Arial"/>
                        </a:rPr>
                        <a:t>372</a:t>
                      </a:r>
                    </a:p>
                  </a:txBody>
                  <a:tcPr marL="70000" marR="70000" marT="30000" marB="30000" anchor="ctr">
                    <a:solidFill>
                      <a:srgbClr val="E9F6F9"/>
                    </a:solidFill>
                  </a:tcPr>
                </a:tc>
              </a:tr>
            </a:tbl>
          </a:graphicData>
        </a:graphic>
      </p:graphicFrame>
      <p:sp>
        <p:nvSpPr>
          <p:cNvPr id="55" name="TextBox 54"/>
          <p:cNvSpPr txBox="1"/>
          <p:nvPr/>
        </p:nvSpPr>
        <p:spPr>
          <a:xfrm>
            <a:off x="900000" y="6700000"/>
            <a:ext cx="11650000" cy="3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5A646E"/>
                </a:solidFill>
                <a:latin typeface="Arial"/>
              </a:rPr>
              <a:t>Orange = popular checkpoint. Dist. = straight-line distance to the nearest popular checkpoint. "Shrine" dropped from names to save space; reviews = Google Maps review count on 13 Oct 2026.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8"/>
          <p:cNvSpPr txBox="1"/>
          <p:nvPr>
            <p:ph idx="12" type="sldNum"/>
          </p:nvPr>
        </p:nvSpPr>
        <p:spPr>
          <a:xfrm>
            <a:off x="9074817" y="7033452"/>
            <a:ext cx="2459482" cy="27699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52" name="Google Shape;52;p8"/>
          <p:cNvSpPr txBox="1"/>
          <p:nvPr/>
        </p:nvSpPr>
        <p:spPr>
          <a:xfrm>
            <a:off x="898635" y="409903"/>
            <a:ext cx="9800000" cy="5847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Open decisions on the spot list</a:t>
            </a:r>
            <a:endParaRPr/>
          </a:p>
        </p:txBody>
      </p:sp>
      <p:sp>
        <p:nvSpPr>
          <p:cNvPr id="53" name="Decision card 1"/>
          <p:cNvSpPr/>
          <p:nvPr/>
        </p:nvSpPr>
        <p:spPr>
          <a:xfrm>
            <a:off x="900000" y="1380000"/>
            <a:ext cx="5675000" cy="2550000"/>
          </a:xfrm>
          <a:prstGeom prst="roundRect">
            <a:avLst>
              <a:gd name="adj" fmla="val 6000"/>
            </a:avLst>
          </a:prstGeom>
          <a:solidFill>
            <a:srgbClr val="E9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1150000" y="1580000"/>
            <a:ext cx="5175000" cy="22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2200" b="1">
                <a:solidFill>
                  <a:srgbClr val="0F2F46"/>
                </a:solidFill>
                <a:latin typeface="Arial"/>
              </a:rPr>
              <a:t>1. Spot variety</a:t>
            </a:r>
          </a:p>
          <a:p>
            <a:pPr algn="l">
              <a:spcAft>
                <a:spcPts val="1400"/>
              </a:spcAft>
            </a:pPr>
            <a:r>
              <a:rPr sz="1800" b="0">
                <a:solidFill>
                  <a:srgbClr val="262B30"/>
                </a:solidFill>
                <a:latin typeface="Arial"/>
              </a:rPr>
              <a:t>9 of 13 less popular spots are shrines.</a:t>
            </a:r>
          </a:p>
          <a:p>
            <a:pPr algn="l">
              <a:spcAft>
                <a:spcPts val="600"/>
              </a:spcAft>
            </a:pPr>
            <a:r>
              <a:rPr sz="1800" b="1">
                <a:solidFill>
                  <a:srgbClr val="0F2F46"/>
                </a:solidFill>
                <a:latin typeface="Arial"/>
              </a:rPr>
              <a:t>Recommendation: </a:t>
            </a:r>
            <a:r>
              <a:rPr sz="1800" b="0">
                <a:solidFill>
                  <a:srgbClr val="0F2F46"/>
                </a:solidFill>
                <a:latin typeface="Arial"/>
              </a:rPr>
              <a:t>Swap Yasaki Inari → Kappabashi Hondōri, and Kuramae Shrine → Seika Park (7 of 13).</a:t>
            </a:r>
          </a:p>
        </p:txBody>
      </p:sp>
      <p:sp>
        <p:nvSpPr>
          <p:cNvPr id="55" name="Decision card 2"/>
          <p:cNvSpPr/>
          <p:nvPr/>
        </p:nvSpPr>
        <p:spPr>
          <a:xfrm>
            <a:off x="6875000" y="1380000"/>
            <a:ext cx="5675000" cy="2550000"/>
          </a:xfrm>
          <a:prstGeom prst="roundRect">
            <a:avLst>
              <a:gd name="adj" fmla="val 6000"/>
            </a:avLst>
          </a:prstGeom>
          <a:solidFill>
            <a:srgbClr val="E9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" name="TextBox 55"/>
          <p:cNvSpPr txBox="1"/>
          <p:nvPr/>
        </p:nvSpPr>
        <p:spPr>
          <a:xfrm>
            <a:off x="7125000" y="1580000"/>
            <a:ext cx="5175000" cy="22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2200" b="1">
                <a:solidFill>
                  <a:srgbClr val="0F2F46"/>
                </a:solidFill>
                <a:latin typeface="Arial"/>
              </a:rPr>
              <a:t>2. Shōden or Imado Shrine</a:t>
            </a:r>
          </a:p>
          <a:p>
            <a:pPr algn="l">
              <a:spcAft>
                <a:spcPts val="1400"/>
              </a:spcAft>
            </a:pPr>
            <a:r>
              <a:rPr sz="1800" b="0">
                <a:solidFill>
                  <a:srgbClr val="262B30"/>
                </a:solidFill>
                <a:latin typeface="Arial"/>
              </a:rPr>
              <a:t>Only 209 m apart, so one must go.</a:t>
            </a:r>
          </a:p>
          <a:p>
            <a:pPr algn="l">
              <a:spcAft>
                <a:spcPts val="600"/>
              </a:spcAft>
            </a:pPr>
            <a:r>
              <a:rPr sz="1800" b="1">
                <a:solidFill>
                  <a:srgbClr val="0F2F46"/>
                </a:solidFill>
                <a:latin typeface="Arial"/>
              </a:rPr>
              <a:t>Recommendation: </a:t>
            </a:r>
            <a:r>
              <a:rPr sz="1800" b="0">
                <a:solidFill>
                  <a:srgbClr val="0F2F46"/>
                </a:solidFill>
                <a:latin typeface="Arial"/>
              </a:rPr>
              <a:t>Keep Imado (4,271 vs 2,495 reviews), following the stated rule.</a:t>
            </a:r>
          </a:p>
        </p:txBody>
      </p:sp>
      <p:sp>
        <p:nvSpPr>
          <p:cNvPr id="57" name="Decision card 3"/>
          <p:cNvSpPr/>
          <p:nvPr/>
        </p:nvSpPr>
        <p:spPr>
          <a:xfrm>
            <a:off x="900000" y="4180000"/>
            <a:ext cx="5675000" cy="2550000"/>
          </a:xfrm>
          <a:prstGeom prst="roundRect">
            <a:avLst>
              <a:gd name="adj" fmla="val 6000"/>
            </a:avLst>
          </a:prstGeom>
          <a:solidFill>
            <a:srgbClr val="E9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" name="TextBox 57"/>
          <p:cNvSpPr txBox="1"/>
          <p:nvPr/>
        </p:nvSpPr>
        <p:spPr>
          <a:xfrm>
            <a:off x="1150000" y="4380000"/>
            <a:ext cx="5175000" cy="22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2200" b="1">
                <a:solidFill>
                  <a:srgbClr val="0F2F46"/>
                </a:solidFill>
                <a:latin typeface="Arial"/>
              </a:rPr>
              <a:t>3. Radius: 1.5 or 1.2 km</a:t>
            </a:r>
          </a:p>
          <a:p>
            <a:pPr algn="l">
              <a:spcAft>
                <a:spcPts val="1400"/>
              </a:spcAft>
            </a:pPr>
            <a:r>
              <a:rPr sz="1800" b="0">
                <a:solidFill>
                  <a:srgbClr val="262B30"/>
                </a:solidFill>
                <a:latin typeface="Arial"/>
              </a:rPr>
              <a:t>1.2 km removes 4 outer shrines, ~21 min walk each way.</a:t>
            </a:r>
          </a:p>
          <a:p>
            <a:pPr algn="l">
              <a:spcAft>
                <a:spcPts val="600"/>
              </a:spcAft>
            </a:pPr>
            <a:r>
              <a:rPr sz="1800" b="1">
                <a:solidFill>
                  <a:srgbClr val="0F2F46"/>
                </a:solidFill>
                <a:latin typeface="Arial"/>
              </a:rPr>
              <a:t>Recommendation: </a:t>
            </a:r>
            <a:r>
              <a:rPr sz="1800" b="0">
                <a:solidFill>
                  <a:srgbClr val="0F2F46"/>
                </a:solidFill>
                <a:latin typeface="Arial"/>
              </a:rPr>
              <a:t>1.2 km for 2–3 h sessions; 1.5 km for 4 h or more.</a:t>
            </a:r>
          </a:p>
        </p:txBody>
      </p:sp>
      <p:sp>
        <p:nvSpPr>
          <p:cNvPr id="59" name="Decision card 4"/>
          <p:cNvSpPr/>
          <p:nvPr/>
        </p:nvSpPr>
        <p:spPr>
          <a:xfrm>
            <a:off x="6875000" y="4180000"/>
            <a:ext cx="5675000" cy="2550000"/>
          </a:xfrm>
          <a:prstGeom prst="roundRect">
            <a:avLst>
              <a:gd name="adj" fmla="val 6000"/>
            </a:avLst>
          </a:prstGeom>
          <a:solidFill>
            <a:srgbClr val="E9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0" name="TextBox 59"/>
          <p:cNvSpPr txBox="1"/>
          <p:nvPr/>
        </p:nvSpPr>
        <p:spPr>
          <a:xfrm>
            <a:off x="7125000" y="4380000"/>
            <a:ext cx="5175000" cy="22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2200" b="1">
                <a:solidFill>
                  <a:srgbClr val="0F2F46"/>
                </a:solidFill>
                <a:latin typeface="Arial"/>
              </a:rPr>
              <a:t>4. River boundary</a:t>
            </a:r>
          </a:p>
          <a:p>
            <a:pPr algn="l">
              <a:spcAft>
                <a:spcPts val="1400"/>
              </a:spcAft>
            </a:pPr>
            <a:r>
              <a:rPr sz="1800" b="0">
                <a:solidFill>
                  <a:srgbClr val="262B30"/>
                </a:solidFill>
                <a:latin typeface="Arial"/>
              </a:rPr>
              <a:t>The river line was traced by hand.</a:t>
            </a:r>
          </a:p>
          <a:p>
            <a:pPr algn="l">
              <a:spcAft>
                <a:spcPts val="600"/>
              </a:spcAft>
            </a:pPr>
            <a:r>
              <a:rPr sz="1800" b="1">
                <a:solidFill>
                  <a:srgbClr val="0F2F46"/>
                </a:solidFill>
                <a:latin typeface="Arial"/>
              </a:rPr>
              <a:t>Recommendation: </a:t>
            </a:r>
            <a:r>
              <a:rPr sz="1800" b="0">
                <a:solidFill>
                  <a:srgbClr val="0F2F46"/>
                </a:solidFill>
                <a:latin typeface="Arial"/>
              </a:rPr>
              <a:t>Check addresses of 3 spots near the river (should say 台東区).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8"/>
          <p:cNvSpPr txBox="1"/>
          <p:nvPr>
            <p:ph idx="12" type="sldNum"/>
          </p:nvPr>
        </p:nvSpPr>
        <p:spPr>
          <a:xfrm>
            <a:off x="9074817" y="7033452"/>
            <a:ext cx="2459482" cy="27699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52" name="Google Shape;52;p8"/>
          <p:cNvSpPr txBox="1"/>
          <p:nvPr/>
        </p:nvSpPr>
        <p:spPr>
          <a:xfrm>
            <a:off x="898635" y="409903"/>
            <a:ext cx="9800000" cy="5847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Experiment design: groups and sample size</a:t>
            </a:r>
            <a:endParaRPr/>
          </a:p>
        </p:txBody>
      </p:sp>
      <p:graphicFrame>
        <p:nvGraphicFramePr>
          <p:cNvPr id="53" name="Table 52"/>
          <p:cNvGraphicFramePr>
            <a:graphicFrameLocks noGrp="1"/>
          </p:cNvGraphicFramePr>
          <p:nvPr/>
        </p:nvGraphicFramePr>
        <p:xfrm>
          <a:off x="900000" y="1380000"/>
          <a:ext cx="7300000" cy="3200000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1898000"/>
                <a:gridCol w="3358000"/>
                <a:gridCol w="2044000"/>
              </a:tblGrid>
              <a:tr h="800000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Group</a:t>
                      </a:r>
                    </a:p>
                  </a:txBody>
                  <a:tcPr marL="70000" marR="70000" marT="30000" marB="30000" anchor="ctr">
                    <a:solidFill>
                      <a:srgbClr val="0F2F4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What participants see in the app</a:t>
                      </a:r>
                    </a:p>
                  </a:txBody>
                  <a:tcPr marL="70000" marR="70000" marT="30000" marB="30000" anchor="ctr">
                    <a:solidFill>
                      <a:srgbClr val="0F2F4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What it tests</a:t>
                      </a:r>
                    </a:p>
                  </a:txBody>
                  <a:tcPr marL="70000" marR="70000" marT="30000" marB="30000" anchor="ctr">
                    <a:solidFill>
                      <a:srgbClr val="0F2F46"/>
                    </a:solidFill>
                  </a:tcPr>
                </a:tc>
              </a:tr>
              <a:tr h="800000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62B30"/>
                          </a:solidFill>
                          <a:latin typeface="Arial"/>
                        </a:rPr>
                        <a:t>Control</a:t>
                      </a:r>
                    </a:p>
                  </a:txBody>
                  <a:tcPr marL="70000" marR="70000" marT="30000" marB="3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62B30"/>
                          </a:solidFill>
                          <a:latin typeface="Arial"/>
                        </a:rPr>
                        <a:t>Map and spot information only</a:t>
                      </a:r>
                    </a:p>
                  </a:txBody>
                  <a:tcPr marL="70000" marR="70000" marT="30000" marB="3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62B30"/>
                          </a:solidFill>
                          <a:latin typeface="Arial"/>
                        </a:rPr>
                        <a:t>Baseline behaviour</a:t>
                      </a:r>
                    </a:p>
                  </a:txBody>
                  <a:tcPr marL="70000" marR="70000" marT="30000" marB="30000" anchor="ctr">
                    <a:solidFill>
                      <a:srgbClr val="FFFFFF"/>
                    </a:solidFill>
                  </a:tcPr>
                </a:tc>
              </a:tr>
              <a:tr h="800000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62B30"/>
                          </a:solidFill>
                          <a:latin typeface="Arial"/>
                        </a:rPr>
                        <a:t>Gamification</a:t>
                      </a:r>
                    </a:p>
                  </a:txBody>
                  <a:tcPr marL="70000" marR="70000" marT="30000" marB="30000" anchor="ctr">
                    <a:solidFill>
                      <a:srgbClr val="E9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62B30"/>
                          </a:solidFill>
                          <a:latin typeface="Arial"/>
                        </a:rPr>
                        <a:t>Points, missions, ranking; same points everywhere</a:t>
                      </a:r>
                    </a:p>
                  </a:txBody>
                  <a:tcPr marL="70000" marR="70000" marT="30000" marB="30000" anchor="ctr">
                    <a:solidFill>
                      <a:srgbClr val="E9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62B30"/>
                          </a:solidFill>
                          <a:latin typeface="Arial"/>
                        </a:rPr>
                        <a:t>Effect of gamification</a:t>
                      </a:r>
                    </a:p>
                  </a:txBody>
                  <a:tcPr marL="70000" marR="70000" marT="30000" marB="30000" anchor="ctr">
                    <a:solidFill>
                      <a:srgbClr val="E9F6F9"/>
                    </a:solidFill>
                  </a:tcPr>
                </a:tc>
              </a:tr>
              <a:tr h="800000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62B30"/>
                          </a:solidFill>
                          <a:latin typeface="Arial"/>
                        </a:rPr>
                        <a:t>Gamification + incentive</a:t>
                      </a:r>
                    </a:p>
                  </a:txBody>
                  <a:tcPr marL="70000" marR="70000" marT="30000" marB="3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62B30"/>
                          </a:solidFill>
                          <a:latin typeface="Arial"/>
                        </a:rPr>
                        <a:t>As above, plus extra points at less popular spots</a:t>
                      </a:r>
                    </a:p>
                  </a:txBody>
                  <a:tcPr marL="70000" marR="70000" marT="30000" marB="3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62B30"/>
                          </a:solidFill>
                          <a:latin typeface="Arial"/>
                        </a:rPr>
                        <a:t>Added effect of the incentive</a:t>
                      </a:r>
                    </a:p>
                  </a:txBody>
                  <a:tcPr marL="70000" marR="70000" marT="30000" marB="300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4" name="TextBox 53"/>
          <p:cNvSpPr txBox="1"/>
          <p:nvPr/>
        </p:nvSpPr>
        <p:spPr>
          <a:xfrm>
            <a:off x="900000" y="4780000"/>
            <a:ext cx="7300000" cy="18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228600" indent="-228600">
              <a:spcAft>
                <a:spcPts val="600"/>
              </a:spcAft>
              <a:buChar char="•"/>
            </a:pPr>
            <a:r>
              <a:rPr sz="1700" b="0">
                <a:solidFill>
                  <a:srgbClr val="262B30"/>
                </a:solidFill>
                <a:latin typeface="Arial"/>
              </a:rPr>
              <a:t>Three groups separate the effect of gamification from the effect of the incentive, matching the research question.</a:t>
            </a:r>
          </a:p>
          <a:p>
            <a:pPr algn="l" marL="228600" indent="-228600">
              <a:spcAft>
                <a:spcPts val="600"/>
              </a:spcAft>
              <a:buChar char="•"/>
            </a:pPr>
            <a:r>
              <a:rPr sz="1700" b="0">
                <a:solidFill>
                  <a:srgbClr val="262B30"/>
                </a:solidFill>
                <a:latin typeface="Arial"/>
              </a:rPr>
              <a:t>Assign people randomly within each nationality group, so every group has a similar mix.</a:t>
            </a:r>
          </a:p>
          <a:p>
            <a:pPr algn="l" marL="228600" indent="-228600">
              <a:spcAft>
                <a:spcPts val="600"/>
              </a:spcAft>
              <a:buChar char="•"/>
            </a:pPr>
            <a:r>
              <a:rPr sz="1700" b="0">
                <a:solidFill>
                  <a:srgbClr val="262B30"/>
                </a:solidFill>
                <a:latin typeface="Arial"/>
              </a:rPr>
              <a:t>If recruitment is limited, drop the middle group.</a:t>
            </a:r>
          </a:p>
        </p:txBody>
      </p:sp>
      <p:sp>
        <p:nvSpPr>
          <p:cNvPr id="55" name="Sample size 26"/>
          <p:cNvSpPr/>
          <p:nvPr/>
        </p:nvSpPr>
        <p:spPr>
          <a:xfrm>
            <a:off x="8550000" y="1380000"/>
            <a:ext cx="4000000" cy="1600000"/>
          </a:xfrm>
          <a:prstGeom prst="roundRect">
            <a:avLst>
              <a:gd name="adj" fmla="val 6000"/>
            </a:avLst>
          </a:prstGeom>
          <a:solidFill>
            <a:srgbClr val="0F2F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" name="TextBox 55"/>
          <p:cNvSpPr txBox="1"/>
          <p:nvPr/>
        </p:nvSpPr>
        <p:spPr>
          <a:xfrm>
            <a:off x="8800000" y="1530000"/>
            <a:ext cx="3500000" cy="13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FFFFFF"/>
                </a:solidFill>
                <a:latin typeface="Arial"/>
              </a:rPr>
              <a:t>26 </a:t>
            </a:r>
            <a:r>
              <a:rPr sz="2800" b="0">
                <a:solidFill>
                  <a:srgbClr val="FFFFFF"/>
                </a:solidFill>
                <a:latin typeface="Arial"/>
              </a:rPr>
              <a:t>per group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FFFFFF"/>
                </a:solidFill>
                <a:latin typeface="Arial"/>
              </a:rPr>
              <a:t>Large effect (d = 0.8), 2 groups</a:t>
            </a:r>
          </a:p>
        </p:txBody>
      </p:sp>
      <p:sp>
        <p:nvSpPr>
          <p:cNvPr id="57" name="Sample size 64"/>
          <p:cNvSpPr/>
          <p:nvPr/>
        </p:nvSpPr>
        <p:spPr>
          <a:xfrm>
            <a:off x="8550000" y="3180000"/>
            <a:ext cx="4000000" cy="1600000"/>
          </a:xfrm>
          <a:prstGeom prst="roundRect">
            <a:avLst>
              <a:gd name="adj" fmla="val 6000"/>
            </a:avLst>
          </a:prstGeom>
          <a:solidFill>
            <a:srgbClr val="0F2F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" name="TextBox 57"/>
          <p:cNvSpPr txBox="1"/>
          <p:nvPr/>
        </p:nvSpPr>
        <p:spPr>
          <a:xfrm>
            <a:off x="8800000" y="3330000"/>
            <a:ext cx="3500000" cy="13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FFFFFF"/>
                </a:solidFill>
                <a:latin typeface="Arial"/>
              </a:rPr>
              <a:t>64 </a:t>
            </a:r>
            <a:r>
              <a:rPr sz="2800" b="0">
                <a:solidFill>
                  <a:srgbClr val="FFFFFF"/>
                </a:solidFill>
                <a:latin typeface="Arial"/>
              </a:rPr>
              <a:t>per group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FFFFFF"/>
                </a:solidFill>
                <a:latin typeface="Arial"/>
              </a:rPr>
              <a:t>Medium effect (d = 0.5), 2 groups</a:t>
            </a:r>
          </a:p>
        </p:txBody>
      </p:sp>
      <p:sp>
        <p:nvSpPr>
          <p:cNvPr id="59" name="Sample size 11"/>
          <p:cNvSpPr/>
          <p:nvPr/>
        </p:nvSpPr>
        <p:spPr>
          <a:xfrm>
            <a:off x="8550000" y="4980000"/>
            <a:ext cx="4000000" cy="1600000"/>
          </a:xfrm>
          <a:prstGeom prst="roundRect">
            <a:avLst>
              <a:gd name="adj" fmla="val 6000"/>
            </a:avLst>
          </a:prstGeom>
          <a:solidFill>
            <a:srgbClr val="E9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0" name="TextBox 59"/>
          <p:cNvSpPr txBox="1"/>
          <p:nvPr/>
        </p:nvSpPr>
        <p:spPr>
          <a:xfrm>
            <a:off x="8800000" y="5130000"/>
            <a:ext cx="3500000" cy="13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0F2F46"/>
                </a:solidFill>
                <a:latin typeface="Arial"/>
              </a:rPr>
              <a:t>11 </a:t>
            </a:r>
            <a:r>
              <a:rPr sz="2800" b="0">
                <a:solidFill>
                  <a:srgbClr val="0F2F46"/>
                </a:solidFill>
                <a:latin typeface="Arial"/>
              </a:rPr>
              <a:t>per group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262B30"/>
                </a:solidFill>
                <a:latin typeface="Arial"/>
              </a:rPr>
              <a:t>Kawanaka et al. (2020), for comparison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550000" y="6800000"/>
            <a:ext cx="4000000" cy="3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5A646E"/>
                </a:solidFill>
                <a:latin typeface="Arial"/>
              </a:rPr>
              <a:t>α = 0.05, power = 0.80; to be confirmed with G*Power.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8"/>
          <p:cNvSpPr txBox="1"/>
          <p:nvPr>
            <p:ph idx="12" type="sldNum"/>
          </p:nvPr>
        </p:nvSpPr>
        <p:spPr>
          <a:xfrm>
            <a:off x="9074817" y="7033452"/>
            <a:ext cx="2459482" cy="27699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52" name="Google Shape;52;p8"/>
          <p:cNvSpPr txBox="1"/>
          <p:nvPr/>
        </p:nvSpPr>
        <p:spPr>
          <a:xfrm>
            <a:off x="898635" y="409903"/>
            <a:ext cx="9800000" cy="5847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Surveys and app changes</a:t>
            </a:r>
            <a:endParaRPr/>
          </a:p>
        </p:txBody>
      </p:sp>
      <p:sp>
        <p:nvSpPr>
          <p:cNvPr id="53" name="Survey card"/>
          <p:cNvSpPr/>
          <p:nvPr/>
        </p:nvSpPr>
        <p:spPr>
          <a:xfrm>
            <a:off x="900000" y="1380000"/>
            <a:ext cx="5650000" cy="5450000"/>
          </a:xfrm>
          <a:prstGeom prst="roundRect">
            <a:avLst>
              <a:gd name="adj" fmla="val 6000"/>
            </a:avLst>
          </a:prstGeom>
          <a:solidFill>
            <a:srgbClr val="E9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1180000" y="1610000"/>
            <a:ext cx="5090000" cy="50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0F2F46"/>
                </a:solidFill>
                <a:latin typeface="Arial"/>
              </a:rPr>
              <a:t>Pre-survey (in the app)</a:t>
            </a:r>
          </a:p>
          <a:p>
            <a:pPr algn="l" marL="228600" indent="-228600">
              <a:spcAft>
                <a:spcPts val="600"/>
              </a:spcAft>
              <a:buChar char="•"/>
            </a:pPr>
            <a:r>
              <a:rPr sz="1700" b="0">
                <a:solidFill>
                  <a:srgbClr val="262B30"/>
                </a:solidFill>
                <a:latin typeface="Arial"/>
              </a:rPr>
              <a:t>Add country of residence and nationality</a:t>
            </a:r>
          </a:p>
          <a:p>
            <a:pPr algn="l" marL="228600" indent="-228600">
              <a:spcAft>
                <a:spcPts val="600"/>
              </a:spcAft>
              <a:buChar char="•"/>
            </a:pPr>
            <a:r>
              <a:rPr sz="1700" b="0">
                <a:solidFill>
                  <a:srgbClr val="262B30"/>
                </a:solidFill>
                <a:latin typeface="Arial"/>
              </a:rPr>
              <a:t>Replace "visits to Yamanashi" with visits to Asakusa / Tokyo</a:t>
            </a:r>
          </a:p>
          <a:p>
            <a:pPr algn="l" marL="228600" indent="-228600">
              <a:spcAft>
                <a:spcPts val="1600"/>
              </a:spcAft>
              <a:buChar char="•"/>
            </a:pPr>
            <a:r>
              <a:rPr sz="1700" b="0">
                <a:solidFill>
                  <a:srgbClr val="262B30"/>
                </a:solidFill>
                <a:latin typeface="Arial"/>
              </a:rPr>
              <a:t>Add a motivation question (sightseeing, game or reward)</a:t>
            </a:r>
          </a:p>
          <a:p>
            <a:pPr algn="l">
              <a:spcAft>
                <a:spcPts val="600"/>
              </a:spcAft>
            </a:pPr>
            <a:r>
              <a:rPr sz="2000" b="1">
                <a:solidFill>
                  <a:srgbClr val="0F2F46"/>
                </a:solidFill>
                <a:latin typeface="Arial"/>
              </a:rPr>
              <a:t>Post-survey (to build)</a:t>
            </a:r>
          </a:p>
          <a:p>
            <a:pPr algn="l" marL="228600" indent="-228600">
              <a:spcAft>
                <a:spcPts val="600"/>
              </a:spcAft>
              <a:buChar char="•"/>
            </a:pPr>
            <a:r>
              <a:rPr sz="1700" b="0">
                <a:solidFill>
                  <a:srgbClr val="262B30"/>
                </a:solidFill>
                <a:latin typeface="Arial"/>
              </a:rPr>
              <a:t>Sightseeing vs mission priority (comparable with Kawanaka et al.)</a:t>
            </a:r>
          </a:p>
          <a:p>
            <a:pPr algn="l" marL="228600" indent="-228600">
              <a:spcAft>
                <a:spcPts val="600"/>
              </a:spcAft>
              <a:buChar char="•"/>
            </a:pPr>
            <a:r>
              <a:rPr sz="1700" b="0">
                <a:solidFill>
                  <a:srgbClr val="262B30"/>
                </a:solidFill>
                <a:latin typeface="Arial"/>
              </a:rPr>
              <a:t>Satisfaction, discovery of new places, perceived crowding</a:t>
            </a:r>
          </a:p>
          <a:p>
            <a:pPr algn="l" marL="228600" indent="-228600">
              <a:spcAft>
                <a:spcPts val="600"/>
              </a:spcAft>
              <a:buChar char="•"/>
            </a:pPr>
            <a:r>
              <a:rPr sz="1700" b="0">
                <a:solidFill>
                  <a:srgbClr val="262B30"/>
                </a:solidFill>
                <a:latin typeface="Arial"/>
              </a:rPr>
              <a:t>Intention to revisit, free comment</a:t>
            </a:r>
          </a:p>
        </p:txBody>
      </p:sp>
      <p:sp>
        <p:nvSpPr>
          <p:cNvPr id="55" name="App card"/>
          <p:cNvSpPr/>
          <p:nvPr/>
        </p:nvSpPr>
        <p:spPr>
          <a:xfrm>
            <a:off x="6900000" y="1380000"/>
            <a:ext cx="5650000" cy="545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7BCF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" name="TextBox 55"/>
          <p:cNvSpPr txBox="1"/>
          <p:nvPr/>
        </p:nvSpPr>
        <p:spPr>
          <a:xfrm>
            <a:off x="7180000" y="1610000"/>
            <a:ext cx="5090000" cy="50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0F2F46"/>
                </a:solidFill>
                <a:latin typeface="Arial"/>
              </a:rPr>
              <a:t>App changes (from the code review)</a:t>
            </a:r>
          </a:p>
          <a:p>
            <a:pPr algn="l" marL="228600" indent="-228600">
              <a:spcAft>
                <a:spcPts val="600"/>
              </a:spcAft>
              <a:buChar char="•"/>
            </a:pPr>
            <a:r>
              <a:rPr sz="1700" b="1">
                <a:solidFill>
                  <a:srgbClr val="262B30"/>
                </a:solidFill>
                <a:latin typeface="Arial"/>
              </a:rPr>
              <a:t>Control-group switch: </a:t>
            </a:r>
            <a:r>
              <a:rPr sz="1700" b="0">
                <a:solidFill>
                  <a:srgbClr val="262B30"/>
                </a:solidFill>
                <a:latin typeface="Arial"/>
              </a:rPr>
              <a:t>a flag exists but is unused; hide points, missions, ranking and medals</a:t>
            </a:r>
          </a:p>
          <a:p>
            <a:pPr algn="l" marL="228600" indent="-228600">
              <a:spcAft>
                <a:spcPts val="600"/>
              </a:spcAft>
              <a:buChar char="•"/>
            </a:pPr>
            <a:r>
              <a:rPr sz="1700" b="1">
                <a:solidFill>
                  <a:srgbClr val="262B30"/>
                </a:solidFill>
                <a:latin typeface="Arial"/>
              </a:rPr>
              <a:t>Spot-dependent points: </a:t>
            </a:r>
            <a:r>
              <a:rPr sz="1700" b="0">
                <a:solidFill>
                  <a:srgbClr val="262B30"/>
                </a:solidFill>
                <a:latin typeface="Arial"/>
              </a:rPr>
              <a:t>every check-in gives 10 points now</a:t>
            </a:r>
          </a:p>
          <a:p>
            <a:pPr algn="l" marL="228600" indent="-228600">
              <a:spcAft>
                <a:spcPts val="600"/>
              </a:spcAft>
              <a:buChar char="•"/>
            </a:pPr>
            <a:r>
              <a:rPr sz="1700" b="1">
                <a:solidFill>
                  <a:srgbClr val="262B30"/>
                </a:solidFill>
                <a:latin typeface="Arial"/>
              </a:rPr>
              <a:t>Popular / less popular tag </a:t>
            </a:r>
            <a:r>
              <a:rPr sz="1700" b="0">
                <a:solidFill>
                  <a:srgbClr val="262B30"/>
                </a:solidFill>
                <a:latin typeface="Arial"/>
              </a:rPr>
              <a:t>on each spot, to count visits by type</a:t>
            </a:r>
          </a:p>
          <a:p>
            <a:pPr algn="l" marL="228600" indent="-228600">
              <a:spcAft>
                <a:spcPts val="600"/>
              </a:spcAft>
              <a:buChar char="•"/>
            </a:pPr>
            <a:r>
              <a:rPr sz="1700" b="1">
                <a:solidFill>
                  <a:srgbClr val="262B30"/>
                </a:solidFill>
                <a:latin typeface="Arial"/>
              </a:rPr>
              <a:t>Add the 16 checkpoints </a:t>
            </a:r>
            <a:r>
              <a:rPr sz="1700" b="0">
                <a:solidFill>
                  <a:srgbClr val="262B30"/>
                </a:solidFill>
                <a:latin typeface="Arial"/>
              </a:rPr>
              <a:t>to the server database</a:t>
            </a:r>
          </a:p>
          <a:p>
            <a:pPr algn="l" marL="228600" indent="-228600">
              <a:spcAft>
                <a:spcPts val="600"/>
              </a:spcAft>
              <a:buChar char="•"/>
            </a:pPr>
            <a:r>
              <a:rPr sz="1700" b="1">
                <a:solidFill>
                  <a:srgbClr val="262B30"/>
                </a:solidFill>
                <a:latin typeface="Arial"/>
              </a:rPr>
              <a:t>Tokyo survey text </a:t>
            </a:r>
            <a:r>
              <a:rPr sz="1700" b="0">
                <a:solidFill>
                  <a:srgbClr val="262B30"/>
                </a:solidFill>
                <a:latin typeface="Arial"/>
              </a:rPr>
              <a:t>in place of Yamanashi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8"/>
          <p:cNvSpPr txBox="1"/>
          <p:nvPr>
            <p:ph idx="12" type="sldNum"/>
          </p:nvPr>
        </p:nvSpPr>
        <p:spPr>
          <a:xfrm>
            <a:off x="9074817" y="7033452"/>
            <a:ext cx="2459482" cy="27699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52" name="Google Shape;52;p8"/>
          <p:cNvSpPr txBox="1"/>
          <p:nvPr/>
        </p:nvSpPr>
        <p:spPr>
          <a:xfrm>
            <a:off x="898635" y="409903"/>
            <a:ext cx="9800000" cy="5847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Next steps and questions</a:t>
            </a:r>
            <a:endParaRPr/>
          </a:p>
        </p:txBody>
      </p:sp>
      <p:sp>
        <p:nvSpPr>
          <p:cNvPr id="53" name="Next steps card"/>
          <p:cNvSpPr/>
          <p:nvPr/>
        </p:nvSpPr>
        <p:spPr>
          <a:xfrm>
            <a:off x="900000" y="1380000"/>
            <a:ext cx="5650000" cy="5450000"/>
          </a:xfrm>
          <a:prstGeom prst="roundRect">
            <a:avLst>
              <a:gd name="adj" fmla="val 6000"/>
            </a:avLst>
          </a:prstGeom>
          <a:solidFill>
            <a:srgbClr val="E9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1180000" y="1610000"/>
            <a:ext cx="5090000" cy="50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0F2F46"/>
                </a:solidFill>
                <a:latin typeface="Arial"/>
              </a:rPr>
              <a:t>Next steps</a:t>
            </a:r>
          </a:p>
          <a:p>
            <a:pPr algn="l" marL="228600" indent="-228600">
              <a:spcAft>
                <a:spcPts val="600"/>
              </a:spcAft>
              <a:buChar char="•"/>
            </a:pPr>
            <a:r>
              <a:rPr sz="1700" b="0">
                <a:solidFill>
                  <a:srgbClr val="262B30"/>
                </a:solidFill>
                <a:latin typeface="Arial"/>
              </a:rPr>
              <a:t>Finalise the spot list (decisions 1–4)</a:t>
            </a:r>
          </a:p>
          <a:p>
            <a:pPr algn="l" marL="228600" indent="-228600">
              <a:spcAft>
                <a:spcPts val="600"/>
              </a:spcAft>
              <a:buChar char="•"/>
            </a:pPr>
            <a:r>
              <a:rPr sz="1700" b="0">
                <a:solidFill>
                  <a:srgbClr val="262B30"/>
                </a:solidFill>
                <a:latin typeface="Arial"/>
              </a:rPr>
              <a:t>Count pedestrians at each checkpoint on one weekend to confirm crowding</a:t>
            </a:r>
          </a:p>
          <a:p>
            <a:pPr algn="l" marL="228600" indent="-228600">
              <a:spcAft>
                <a:spcPts val="600"/>
              </a:spcAft>
              <a:buChar char="•"/>
            </a:pPr>
            <a:r>
              <a:rPr sz="1700" b="0">
                <a:solidFill>
                  <a:srgbClr val="262B30"/>
                </a:solidFill>
                <a:latin typeface="Arial"/>
              </a:rPr>
              <a:t>Agree app changes with Le Laboratory</a:t>
            </a:r>
          </a:p>
          <a:p>
            <a:pPr algn="l" marL="228600" indent="-228600">
              <a:spcAft>
                <a:spcPts val="1600"/>
              </a:spcAft>
              <a:buChar char="•"/>
            </a:pPr>
            <a:r>
              <a:rPr sz="1700" b="0">
                <a:solidFill>
                  <a:srgbClr val="262B30"/>
                </a:solidFill>
                <a:latin typeface="Arial"/>
              </a:rPr>
              <a:t>Build the post-survey and update the pre-survey</a:t>
            </a:r>
          </a:p>
          <a:p>
            <a:pPr algn="l">
              <a:spcAft>
                <a:spcPts val="600"/>
              </a:spcAft>
            </a:pPr>
            <a:r>
              <a:rPr sz="2000" b="1">
                <a:solidFill>
                  <a:srgbClr val="0F2F46"/>
                </a:solidFill>
                <a:latin typeface="Arial"/>
              </a:rPr>
              <a:t>Timing</a:t>
            </a:r>
          </a:p>
          <a:p>
            <a:pPr algn="l" marL="228600" indent="-228600">
              <a:spcAft>
                <a:spcPts val="600"/>
              </a:spcAft>
              <a:buChar char="•"/>
            </a:pPr>
            <a:r>
              <a:rPr sz="1700" b="0">
                <a:solidFill>
                  <a:srgbClr val="262B30"/>
                </a:solidFill>
                <a:latin typeface="Arial"/>
              </a:rPr>
              <a:t>Weekend afternoons; all groups on the same days</a:t>
            </a:r>
          </a:p>
          <a:p>
            <a:pPr algn="l" marL="228600" indent="-228600">
              <a:spcAft>
                <a:spcPts val="600"/>
              </a:spcAft>
              <a:buChar char="•"/>
            </a:pPr>
            <a:r>
              <a:rPr sz="1700" b="0">
                <a:solidFill>
                  <a:srgbClr val="262B30"/>
                </a:solidFill>
                <a:latin typeface="Arial"/>
              </a:rPr>
              <a:t>Avoid Sanja Matsuri (May), Sumida fireworks (July), Tori-no-ichi (Nov), New Year</a:t>
            </a:r>
          </a:p>
          <a:p>
            <a:pPr algn="l" marL="228600" indent="-228600">
              <a:spcAft>
                <a:spcPts val="600"/>
              </a:spcAft>
              <a:buChar char="•"/>
            </a:pPr>
            <a:r>
              <a:rPr sz="1700" b="0">
                <a:solidFill>
                  <a:srgbClr val="262B30"/>
                </a:solidFill>
                <a:latin typeface="Arial"/>
              </a:rPr>
              <a:t>Plan a rain date</a:t>
            </a:r>
          </a:p>
        </p:txBody>
      </p:sp>
      <p:sp>
        <p:nvSpPr>
          <p:cNvPr id="55" name="Questions card"/>
          <p:cNvSpPr/>
          <p:nvPr/>
        </p:nvSpPr>
        <p:spPr>
          <a:xfrm>
            <a:off x="6900000" y="1380000"/>
            <a:ext cx="5650000" cy="5450000"/>
          </a:xfrm>
          <a:prstGeom prst="roundRect">
            <a:avLst>
              <a:gd name="adj" fmla="val 6000"/>
            </a:avLst>
          </a:prstGeom>
          <a:solidFill>
            <a:srgbClr val="0F2F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" name="TextBox 55"/>
          <p:cNvSpPr txBox="1"/>
          <p:nvPr/>
        </p:nvSpPr>
        <p:spPr>
          <a:xfrm>
            <a:off x="7180000" y="1610000"/>
            <a:ext cx="5090000" cy="50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7BCFDF"/>
                </a:solidFill>
                <a:latin typeface="Arial"/>
              </a:rPr>
              <a:t>Questions for you</a:t>
            </a:r>
          </a:p>
          <a:p>
            <a:pPr algn="l">
              <a:spcAft>
                <a:spcPts val="1200"/>
              </a:spcAft>
            </a:pPr>
            <a:r>
              <a:rPr sz="1900" b="0">
                <a:solidFill>
                  <a:srgbClr val="FFFFFF"/>
                </a:solidFill>
                <a:latin typeface="Arial"/>
              </a:rPr>
              <a:t>1. Is 1.2 km or 1.5 km more suitable for our session length?</a:t>
            </a:r>
          </a:p>
          <a:p>
            <a:pPr algn="l">
              <a:spcAft>
                <a:spcPts val="1200"/>
              </a:spcAft>
            </a:pPr>
            <a:r>
              <a:rPr sz="1900" b="0">
                <a:solidFill>
                  <a:srgbClr val="FFFFFF"/>
                </a:solidFill>
                <a:latin typeface="Arial"/>
              </a:rPr>
              <a:t>2. Two groups or three? What sample size can we realistically recruit?</a:t>
            </a:r>
          </a:p>
          <a:p>
            <a:pPr algn="l">
              <a:spcAft>
                <a:spcPts val="1200"/>
              </a:spcAft>
            </a:pPr>
            <a:r>
              <a:rPr sz="1900" b="0">
                <a:solidFill>
                  <a:srgbClr val="FFFFFF"/>
                </a:solidFill>
                <a:latin typeface="Arial"/>
              </a:rPr>
              <a:t>3. When should the experiment run?</a:t>
            </a:r>
          </a:p>
          <a:p>
            <a:pPr algn="l">
              <a:spcAft>
                <a:spcPts val="600"/>
              </a:spcAft>
            </a:pPr>
            <a:r>
              <a:rPr sz="1900" b="0">
                <a:solidFill>
                  <a:srgbClr val="FFFFFF"/>
                </a:solidFill>
                <a:latin typeface="Arial"/>
              </a:rPr>
              <a:t>4. Is excluding commercial spots the right rule, or should a few free-entry shops be allowed?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ユーザー定義 1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テーマ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